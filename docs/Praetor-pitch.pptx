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Praetor. In one line: an AI agent manages your money on its own, but the limits it works within live on a blockchain, and a consortium of a bank, a regulator and an operator can pull the brake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that pay, trade and rebalance are arriving. A wallet today gives them either the whole key, which is dangerous, or nothing, so a human approves every step. And no institution can step in. That last point is what keeps agent wallets out of regulated 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Praetor answers all three. The agent works alone inside a mandate. The mandate is enforced by a smart contract, not by the agent’s good behaviour. And a consortium on FISCO BCOS, WeBank’s own chain, holds the authority 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week. Sign-up gives the user an identity and gives the agent a mandate. Most days the agent just works: rebalancing, paying rent. When it hits a limit, the request appears in WeChat and the user approves with Face ID, and that approval is checked by the contract itself. And if something is wrong, the regulator freezes the agent, and the freeze reaches Base in about six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chains, each doing what it is good at. Base, a public Ethereum chain, holds the money in a smart account. Our Mandate hook checks every single call the agent makes. FISCO BCOS is the permissioned chain where the bank, the regulator and the operator run nodes and take decisions. Those decisions are signed and carried to Base over WeCross, WeBank’s cross-chain bridge, in about six seconds, measured on our stack. WeIdentity gives everyone a decentralised ID and holds the KYC and mandate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permission ladder the judges asked for. Tier 0 is never allowed. Tier 1 the agent does alone. Tier 2 needs you: Face ID inside WeChat, or a passkey in the web app. Each approval works exactly once, and the contract on Base checks it, not our server. Tier 3 is changing the mandate. Tier 4 is the consortium: any one member can freeze, loosening needs two of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security idea: the rules live in the wallet contract. Even if someone takes over the agent, its calls still go through the Mandate hook, which refuses anything outside the mandate. Face ID approvals are verified by the contract using the P-256 precompile, and every refusal is logged on-chain with its reason, so an auditor can see what the agent tried and why it was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asymmetry is deliberate. Stopping the agent should be easy: any one of the three can freeze it. Giving it more power should be hard: two of the three must agree. Besides freeze and loosen, the consortium manages the sanctions list, spending caps, allowed jurisdictions and a heartbeat: if the consortium goes silent, the wallet tightens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compliance we cover both sides. Know your customer: KYC through a provider, issued as a WeIdentity credential. Know your agent: the agent has its own ID and a mandate credential that says what it may do. Every action is recorded in a hash chain on FISCO, anchored on Base, so tampering is detectable, and statements come out in ISO 20022, the standard bank message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Interaction is built around WeChat, because that is where users are. The mini program shows the portfolio, lets you chat with the agent, and approves payments with Tencent's SOTER Face ID. The same request also appears in the web app, where a passkey approves it and the contract verifies the signature. Whichever you use first executes. And neither trusts our server: each recomputes the payment's fingerprint itself and refuses to sign if it differs. We tested this on a real iPhone: both screens showed the same fingerprint.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front ends. The user app shows the portfolio, pending approvals, the mandate, payments and a chat with the agent. The consortium console is where bank, regulator and operator staff sign in with their own passkeys and freeze, loosen or inspect any agent. Both are in English and Chinese.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completion is forty percent of the score, so here is what we measured, on a real iPhone with a real WeChat account. The agent asked for a payment outside its mandate; I approved it with Face ID inside WeChat, and it executed on Base. Sending that same approval again was refused by the contract: every approval works once. Then the regulator froze the account on FISCO: 6.3 seconds later Base enforced it, the app turned red and the agent could not pay. Loosening took the bank and the regulator together, 7.5 seconds. Behind this, more than seven hundred automated tests and end-to-end flows F1 to F10. [Add the Base Sepolia transaction hashes from the live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believe is new, together in one wallet. First, a permissioned consortium chain governing a wallet on a public chain. Second, WeChat's own Face ID moving money on-chain: each approval is single-use and enforced by the contract. Third, the agent has its own identity and a credential stating its mandate, so compliance can treat it as a participant. Fourth, refusals are evidence: everything the agent tried and was stopped from doing is on-chain, with the reason, for an auditor.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AI agents can be trusted with money once the people responsible for money can stop them. Praetor makes that true: autonomous for the user, bounded by the contract, regulated by the consortium.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11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81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F2F0EA"/>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89361"/>
            <a:ext cx="10566400" cy="3855839"/>
          </a:xfrm>
          <a:prstGeom prst="rect">
            <a:avLst/>
          </a:prstGeom>
          <a:noFill/>
          <a:ln/>
        </p:spPr>
        <p:txBody>
          <a:bodyPr wrap="square" lIns="0" tIns="0" rIns="0" bIns="0" rtlCol="0" anchor="t"/>
          <a:lstStyle>
            <a:lvl1pPr algn="l" indent="0" marL="0">
              <a:lnSpc>
                <a:spcPct val="140000"/>
              </a:lnSpc>
              <a:buNone/>
              <a:defRPr lang="en-US" sz="1600" dirty="0">
                <a:solidFill>
                  <a:srgbClr val="F2F0E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381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F2F0EA"/>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89361"/>
            <a:ext cx="10566400" cy="3855839"/>
          </a:xfrm>
          <a:prstGeom prst="rect">
            <a:avLst/>
          </a:prstGeom>
          <a:noFill/>
          <a:ln/>
        </p:spPr>
        <p:txBody>
          <a:bodyPr wrap="square" lIns="0" tIns="0" rIns="0" bIns="0" rtlCol="0" anchor="t"/>
          <a:lstStyle>
            <a:lvl1pPr algn="l" indent="0" marL="0">
              <a:lnSpc>
                <a:spcPct val="140000"/>
              </a:lnSpc>
              <a:buNone/>
              <a:defRPr lang="en-US" sz="1600" dirty="0">
                <a:solidFill>
                  <a:srgbClr val="F2F0E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11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81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F2F0EA"/>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89361"/>
            <a:ext cx="10566400" cy="3855839"/>
          </a:xfrm>
          <a:prstGeom prst="rect">
            <a:avLst/>
          </a:prstGeom>
          <a:noFill/>
          <a:ln/>
        </p:spPr>
        <p:txBody>
          <a:bodyPr wrap="square" lIns="0" tIns="0" rIns="0" bIns="0" rtlCol="0" anchor="t"/>
          <a:lstStyle>
            <a:lvl1pPr algn="l" indent="0" marL="0">
              <a:lnSpc>
                <a:spcPct val="140000"/>
              </a:lnSpc>
              <a:buNone/>
              <a:defRPr lang="en-US" sz="1600" dirty="0">
                <a:solidFill>
                  <a:srgbClr val="F2F0E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rust">    </p:cNvPr>
          <p:cNvPicPr>
            <a:picLocks noChangeAspect="1"/>
          </p:cNvPicPr>
          <p:nvPr/>
        </p:nvPicPr>
        <p:blipFill>
          <a:blip r:embed="rId1"/>
          <a:srcRect l="0" r="0" t="0" b="0"/>
          <a:stretch/>
        </p:blipFill>
        <p:spPr>
          <a:xfrm>
            <a:off x="812800" y="830560"/>
            <a:ext cx="355600" cy="355600"/>
          </a:xfrm>
          <a:prstGeom prst="rect">
            <a:avLst/>
          </a:prstGeom>
        </p:spPr>
      </p:pic>
      <p:sp>
        <p:nvSpPr>
          <p:cNvPr id="3" name="Text 0"/>
          <p:cNvSpPr/>
          <p:nvPr/>
        </p:nvSpPr>
        <p:spPr>
          <a:xfrm>
            <a:off x="1295400" y="812800"/>
            <a:ext cx="119169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F0EA"/>
                </a:solidFill>
                <a:latin typeface="Space Grotesk" pitchFamily="34" charset="0"/>
                <a:ea typeface="Space Grotesk" pitchFamily="34" charset="-122"/>
                <a:cs typeface="Space Grotesk" pitchFamily="34" charset="-120"/>
              </a:rPr>
              <a:t>Praetor</a:t>
            </a:r>
            <a:endParaRPr lang="en-US" sz="2200" dirty="0"/>
          </a:p>
        </p:txBody>
      </p:sp>
      <p:sp>
        <p:nvSpPr>
          <p:cNvPr id="4" name="Text 1"/>
          <p:cNvSpPr/>
          <p:nvPr>
            <p:ph type="title"/>
          </p:nvPr>
        </p:nvSpPr>
        <p:spPr>
          <a:xfrm>
            <a:off x="812800" y="1906290"/>
            <a:ext cx="9156700" cy="24257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2F0EA"/>
                </a:solidFill>
                <a:latin typeface="Space Grotesk" pitchFamily="34" charset="0"/>
                <a:ea typeface="Space Grotesk" pitchFamily="34" charset="-122"/>
                <a:cs typeface="Space Grotesk" pitchFamily="34" charset="-120"/>
              </a:rPr>
              <a:t>Self-driving money.</a:t>
            </a:r>
            <a:endParaRPr lang="en-US" sz="6000" dirty="0"/>
          </a:p>
          <a:p>
            <a:pPr algn="l" indent="0" marL="0">
              <a:lnSpc>
                <a:spcPts val="6300"/>
              </a:lnSpc>
              <a:buNone/>
            </a:pPr>
            <a:r>
              <a:rPr lang="en-US" sz="6000" b="1" i="0" dirty="0">
                <a:solidFill>
                  <a:srgbClr val="E0B84B"/>
                </a:solidFill>
                <a:latin typeface="Space Grotesk" pitchFamily="34" charset="0"/>
                <a:ea typeface="Space Grotesk" pitchFamily="34" charset="-122"/>
                <a:cs typeface="Space Grotesk" pitchFamily="34" charset="-120"/>
              </a:rPr>
              <a:t>The regulator holds the brakes.</a:t>
            </a:r>
            <a:endParaRPr lang="en-US" sz="6000" dirty="0"/>
          </a:p>
        </p:txBody>
      </p:sp>
      <p:sp>
        <p:nvSpPr>
          <p:cNvPr id="5" name="Text 2"/>
          <p:cNvSpPr/>
          <p:nvPr/>
        </p:nvSpPr>
        <p:spPr>
          <a:xfrm>
            <a:off x="812800" y="4560590"/>
            <a:ext cx="85026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B0BA"/>
                </a:solidFill>
                <a:latin typeface="IBM Plex Sans" pitchFamily="34" charset="0"/>
                <a:ea typeface="IBM Plex Sans" pitchFamily="34" charset="-122"/>
                <a:cs typeface="IBM Plex Sans" pitchFamily="34" charset="-120"/>
              </a:rPr>
              <a:t>An AI agent runs your wallet. Its limits live on-chain. A bank, a regulator and an operator on FISCO BCOS can stop it in seconds.</a:t>
            </a:r>
            <a:endParaRPr lang="en-US" sz="1600" dirty="0"/>
          </a:p>
        </p:txBody>
      </p:sp>
      <p:sp>
        <p:nvSpPr>
          <p:cNvPr id="6"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0BA"/>
                </a:solidFill>
                <a:latin typeface="IBM Plex Sans" pitchFamily="34" charset="0"/>
                <a:ea typeface="IBM Plex Sans" pitchFamily="34" charset="-122"/>
                <a:cs typeface="IBM Plex Sans" pitchFamily="34" charset="-120"/>
              </a:rPr>
              <a:t>FinTechathon 2026 · International Track · Topic F, Agent Wallet · [Team: alex Huou, EPFL · Stan,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4"/>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800" y="1432520"/>
            <a:ext cx="9810750" cy="153392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71C"/>
                </a:solidFill>
                <a:latin typeface="Space Grotesk" pitchFamily="34" charset="0"/>
                <a:ea typeface="Space Grotesk" pitchFamily="34" charset="-122"/>
                <a:cs typeface="Space Grotesk" pitchFamily="34" charset="-120"/>
              </a:rPr>
              <a:t>AI agents are starting to hold money. Today’s wallets give them two bad options.</a:t>
            </a:r>
            <a:endParaRPr lang="en-US" sz="3600" dirty="0"/>
          </a:p>
        </p:txBody>
      </p:sp>
      <p:sp>
        <p:nvSpPr>
          <p:cNvPr id="4" name="Shape 2"/>
          <p:cNvSpPr/>
          <p:nvPr/>
        </p:nvSpPr>
        <p:spPr>
          <a:xfrm>
            <a:off x="815975" y="3350617"/>
            <a:ext cx="3350617" cy="2538611"/>
          </a:xfrm>
          <a:prstGeom prst="roundRect">
            <a:avLst>
              <a:gd name="adj" fmla="val 5878"/>
            </a:avLst>
          </a:prstGeom>
          <a:solidFill>
            <a:srgbClr val="FFFDF8"/>
          </a:solidFill>
          <a:ln w="6350">
            <a:solidFill>
              <a:srgbClr val="DDD8CC"/>
            </a:solidFill>
            <a:prstDash val="solid"/>
          </a:ln>
        </p:spPr>
      </p:sp>
      <p:sp>
        <p:nvSpPr>
          <p:cNvPr id="5" name="Text 3"/>
          <p:cNvSpPr/>
          <p:nvPr/>
        </p:nvSpPr>
        <p:spPr>
          <a:xfrm>
            <a:off x="1123950" y="3658592"/>
            <a:ext cx="281670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71C"/>
                </a:solidFill>
                <a:latin typeface="Space Grotesk" pitchFamily="34" charset="0"/>
                <a:ea typeface="Space Grotesk" pitchFamily="34" charset="-122"/>
                <a:cs typeface="Space Grotesk" pitchFamily="34" charset="-120"/>
              </a:rPr>
              <a:t>Hand it the key</a:t>
            </a:r>
            <a:endParaRPr lang="en-US" sz="2200" dirty="0"/>
          </a:p>
        </p:txBody>
      </p:sp>
      <p:sp>
        <p:nvSpPr>
          <p:cNvPr id="6" name="Text 4"/>
          <p:cNvSpPr/>
          <p:nvPr/>
        </p:nvSpPr>
        <p:spPr>
          <a:xfrm>
            <a:off x="1123950" y="4120852"/>
            <a:ext cx="2816707"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IBM Plex Sans" pitchFamily="34" charset="0"/>
                <a:ea typeface="IBM Plex Sans" pitchFamily="34" charset="-122"/>
                <a:cs typeface="IBM Plex Sans" pitchFamily="34" charset="-120"/>
              </a:rPr>
              <a:t>The agent can do anything. One bad prompt or one leaked key and the wallet is empty.</a:t>
            </a:r>
            <a:endParaRPr lang="en-US" sz="1600" dirty="0"/>
          </a:p>
        </p:txBody>
      </p:sp>
      <p:sp>
        <p:nvSpPr>
          <p:cNvPr id="7" name="Shape 5"/>
          <p:cNvSpPr/>
          <p:nvPr/>
        </p:nvSpPr>
        <p:spPr>
          <a:xfrm>
            <a:off x="4426942" y="3350617"/>
            <a:ext cx="3350716" cy="2538611"/>
          </a:xfrm>
          <a:prstGeom prst="roundRect">
            <a:avLst>
              <a:gd name="adj" fmla="val 5878"/>
            </a:avLst>
          </a:prstGeom>
          <a:solidFill>
            <a:srgbClr val="FFFDF8"/>
          </a:solidFill>
          <a:ln w="6350">
            <a:solidFill>
              <a:srgbClr val="DDD8CC"/>
            </a:solidFill>
            <a:prstDash val="solid"/>
          </a:ln>
        </p:spPr>
      </p:sp>
      <p:sp>
        <p:nvSpPr>
          <p:cNvPr id="8" name="Text 6"/>
          <p:cNvSpPr/>
          <p:nvPr/>
        </p:nvSpPr>
        <p:spPr>
          <a:xfrm>
            <a:off x="4734917" y="3658592"/>
            <a:ext cx="281680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71C"/>
                </a:solidFill>
                <a:latin typeface="Space Grotesk" pitchFamily="34" charset="0"/>
                <a:ea typeface="Space Grotesk" pitchFamily="34" charset="-122"/>
                <a:cs typeface="Space Grotesk" pitchFamily="34" charset="-120"/>
              </a:rPr>
              <a:t>Approve every step</a:t>
            </a:r>
            <a:endParaRPr lang="en-US" sz="2200" dirty="0"/>
          </a:p>
        </p:txBody>
      </p:sp>
      <p:sp>
        <p:nvSpPr>
          <p:cNvPr id="9" name="Text 7"/>
          <p:cNvSpPr/>
          <p:nvPr/>
        </p:nvSpPr>
        <p:spPr>
          <a:xfrm>
            <a:off x="4734917" y="4120852"/>
            <a:ext cx="2816809"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IBM Plex Sans" pitchFamily="34" charset="0"/>
                <a:ea typeface="IBM Plex Sans" pitchFamily="34" charset="-122"/>
                <a:cs typeface="IBM Plex Sans" pitchFamily="34" charset="-120"/>
              </a:rPr>
              <a:t>The human clicks yes on each payment. Safe, but then the agent is not doing the work.</a:t>
            </a:r>
            <a:endParaRPr lang="en-US" sz="1600" dirty="0"/>
          </a:p>
        </p:txBody>
      </p:sp>
      <p:sp>
        <p:nvSpPr>
          <p:cNvPr id="10" name="Shape 8"/>
          <p:cNvSpPr/>
          <p:nvPr/>
        </p:nvSpPr>
        <p:spPr>
          <a:xfrm>
            <a:off x="8034834" y="3347442"/>
            <a:ext cx="3344366" cy="2544961"/>
          </a:xfrm>
          <a:prstGeom prst="roundRect">
            <a:avLst>
              <a:gd name="adj" fmla="val 5988"/>
            </a:avLst>
          </a:prstGeom>
          <a:solidFill>
            <a:srgbClr val="14171C"/>
          </a:solidFill>
          <a:ln/>
        </p:spPr>
      </p:sp>
      <p:sp>
        <p:nvSpPr>
          <p:cNvPr id="11" name="Text 9"/>
          <p:cNvSpPr/>
          <p:nvPr/>
        </p:nvSpPr>
        <p:spPr>
          <a:xfrm>
            <a:off x="8339634" y="3652242"/>
            <a:ext cx="2816809"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0B84B"/>
                </a:solidFill>
                <a:latin typeface="Space Grotesk" pitchFamily="34" charset="0"/>
                <a:ea typeface="Space Grotesk" pitchFamily="34" charset="-122"/>
                <a:cs typeface="Space Grotesk" pitchFamily="34" charset="-120"/>
              </a:rPr>
              <a:t>No brake for anyone else</a:t>
            </a:r>
            <a:endParaRPr lang="en-US" sz="2200" dirty="0"/>
          </a:p>
        </p:txBody>
      </p:sp>
      <p:sp>
        <p:nvSpPr>
          <p:cNvPr id="12" name="Text 10"/>
          <p:cNvSpPr/>
          <p:nvPr/>
        </p:nvSpPr>
        <p:spPr>
          <a:xfrm>
            <a:off x="8339634" y="4449763"/>
            <a:ext cx="2816809"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2CA"/>
                </a:solidFill>
                <a:latin typeface="IBM Plex Sans" pitchFamily="34" charset="0"/>
                <a:ea typeface="IBM Plex Sans" pitchFamily="34" charset="-122"/>
                <a:cs typeface="IBM Plex Sans" pitchFamily="34" charset="-120"/>
              </a:rPr>
              <a:t>Banks and regulators have no lever on a wallet an agent controls, so licensed finance can’t use one.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B84B"/>
                </a:solidFill>
                <a:latin typeface="IBM Plex Sans" pitchFamily="34" charset="0"/>
                <a:ea typeface="IBM Plex Sans" pitchFamily="34" charset="-122"/>
                <a:cs typeface="IBM Plex Sans" pitchFamily="34" charset="-120"/>
              </a:rPr>
              <a:t>THE IDEA</a:t>
            </a:r>
            <a:endParaRPr lang="en-US" sz="1200" dirty="0"/>
          </a:p>
        </p:txBody>
      </p:sp>
      <p:sp>
        <p:nvSpPr>
          <p:cNvPr id="3" name="Text 1"/>
          <p:cNvSpPr/>
          <p:nvPr>
            <p:ph type="title"/>
          </p:nvPr>
        </p:nvSpPr>
        <p:spPr>
          <a:xfrm>
            <a:off x="812800" y="1432520"/>
            <a:ext cx="10137775"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0EA"/>
                </a:solidFill>
                <a:latin typeface="Space Grotesk" pitchFamily="34" charset="0"/>
                <a:ea typeface="Space Grotesk" pitchFamily="34" charset="-122"/>
                <a:cs typeface="Space Grotesk" pitchFamily="34" charset="-120"/>
              </a:rPr>
              <a:t>The agent acts alone, inside a mandate that lives on-chain.</a:t>
            </a:r>
            <a:endParaRPr lang="en-US" sz="3600" dirty="0"/>
          </a:p>
        </p:txBody>
      </p:sp>
      <p:sp>
        <p:nvSpPr>
          <p:cNvPr id="4" name="Shape 2"/>
          <p:cNvSpPr/>
          <p:nvPr/>
        </p:nvSpPr>
        <p:spPr>
          <a:xfrm>
            <a:off x="815975" y="2847777"/>
            <a:ext cx="3346450" cy="2698651"/>
          </a:xfrm>
          <a:prstGeom prst="roundRect">
            <a:avLst>
              <a:gd name="adj" fmla="val 5530"/>
            </a:avLst>
          </a:prstGeom>
          <a:solidFill>
            <a:srgbClr val="181B20"/>
          </a:solidFill>
          <a:ln w="6350">
            <a:solidFill>
              <a:srgbClr val="2A2E35"/>
            </a:solidFill>
            <a:prstDash val="solid"/>
          </a:ln>
        </p:spPr>
      </p:sp>
      <p:pic>
        <p:nvPicPr>
          <p:cNvPr id="5" name="Image 0" descr="Lightning">    </p:cNvPr>
          <p:cNvPicPr>
            <a:picLocks noChangeAspect="1"/>
          </p:cNvPicPr>
          <p:nvPr/>
        </p:nvPicPr>
        <p:blipFill>
          <a:blip r:embed="rId1"/>
          <a:srcRect l="0" r="0" t="0" b="0"/>
          <a:stretch/>
        </p:blipFill>
        <p:spPr>
          <a:xfrm>
            <a:off x="1123950" y="3155752"/>
            <a:ext cx="355600" cy="355600"/>
          </a:xfrm>
          <a:prstGeom prst="rect">
            <a:avLst/>
          </a:prstGeom>
        </p:spPr>
      </p:pic>
      <p:sp>
        <p:nvSpPr>
          <p:cNvPr id="6" name="Text 3"/>
          <p:cNvSpPr/>
          <p:nvPr/>
        </p:nvSpPr>
        <p:spPr>
          <a:xfrm>
            <a:off x="1123950" y="3638352"/>
            <a:ext cx="281241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F0EA"/>
                </a:solidFill>
                <a:latin typeface="Space Grotesk" pitchFamily="34" charset="0"/>
                <a:ea typeface="Space Grotesk" pitchFamily="34" charset="-122"/>
                <a:cs typeface="Space Grotesk" pitchFamily="34" charset="-120"/>
              </a:rPr>
              <a:t>Autonomous</a:t>
            </a:r>
            <a:endParaRPr lang="en-US" sz="2200" dirty="0"/>
          </a:p>
        </p:txBody>
      </p:sp>
      <p:sp>
        <p:nvSpPr>
          <p:cNvPr id="7" name="Text 4"/>
          <p:cNvSpPr/>
          <p:nvPr/>
        </p:nvSpPr>
        <p:spPr>
          <a:xfrm>
            <a:off x="1123950" y="4100612"/>
            <a:ext cx="2812415"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B0BA"/>
                </a:solidFill>
                <a:latin typeface="IBM Plex Sans" pitchFamily="34" charset="0"/>
                <a:ea typeface="IBM Plex Sans" pitchFamily="34" charset="-122"/>
                <a:cs typeface="IBM Plex Sans" pitchFamily="34" charset="-120"/>
              </a:rPr>
              <a:t>Rebalances your gold, silver and dollars back to their bands. Pays known payees.</a:t>
            </a:r>
            <a:endParaRPr lang="en-US" sz="1600" dirty="0"/>
          </a:p>
        </p:txBody>
      </p:sp>
      <p:sp>
        <p:nvSpPr>
          <p:cNvPr id="8" name="Shape 5"/>
          <p:cNvSpPr/>
          <p:nvPr/>
        </p:nvSpPr>
        <p:spPr>
          <a:xfrm>
            <a:off x="4422775" y="2847777"/>
            <a:ext cx="3346450" cy="2698651"/>
          </a:xfrm>
          <a:prstGeom prst="roundRect">
            <a:avLst>
              <a:gd name="adj" fmla="val 5530"/>
            </a:avLst>
          </a:prstGeom>
          <a:solidFill>
            <a:srgbClr val="181B20"/>
          </a:solidFill>
          <a:ln w="6350">
            <a:solidFill>
              <a:srgbClr val="2A2E35"/>
            </a:solidFill>
            <a:prstDash val="solid"/>
          </a:ln>
        </p:spPr>
      </p:sp>
      <p:pic>
        <p:nvPicPr>
          <p:cNvPr id="9" name="Image 1" descr="Lock">    </p:cNvPr>
          <p:cNvPicPr>
            <a:picLocks noChangeAspect="1"/>
          </p:cNvPicPr>
          <p:nvPr/>
        </p:nvPicPr>
        <p:blipFill>
          <a:blip r:embed="rId2"/>
          <a:srcRect l="0" r="0" t="0" b="0"/>
          <a:stretch/>
        </p:blipFill>
        <p:spPr>
          <a:xfrm>
            <a:off x="4730750" y="3155752"/>
            <a:ext cx="355600" cy="355600"/>
          </a:xfrm>
          <a:prstGeom prst="rect">
            <a:avLst/>
          </a:prstGeom>
        </p:spPr>
      </p:pic>
      <p:sp>
        <p:nvSpPr>
          <p:cNvPr id="10" name="Text 6"/>
          <p:cNvSpPr/>
          <p:nvPr/>
        </p:nvSpPr>
        <p:spPr>
          <a:xfrm>
            <a:off x="4730750" y="3638352"/>
            <a:ext cx="281241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F0EA"/>
                </a:solidFill>
                <a:latin typeface="Space Grotesk" pitchFamily="34" charset="0"/>
                <a:ea typeface="Space Grotesk" pitchFamily="34" charset="-122"/>
                <a:cs typeface="Space Grotesk" pitchFamily="34" charset="-120"/>
              </a:rPr>
              <a:t>Bounded</a:t>
            </a:r>
            <a:endParaRPr lang="en-US" sz="2200" dirty="0"/>
          </a:p>
        </p:txBody>
      </p:sp>
      <p:sp>
        <p:nvSpPr>
          <p:cNvPr id="11" name="Text 7"/>
          <p:cNvSpPr/>
          <p:nvPr/>
        </p:nvSpPr>
        <p:spPr>
          <a:xfrm>
            <a:off x="4730750" y="4100612"/>
            <a:ext cx="2812415"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B0BA"/>
                </a:solidFill>
                <a:latin typeface="IBM Plex Sans" pitchFamily="34" charset="0"/>
                <a:ea typeface="IBM Plex Sans" pitchFamily="34" charset="-122"/>
                <a:cs typeface="IBM Plex Sans" pitchFamily="34" charset="-120"/>
              </a:rPr>
              <a:t>Every call is checked by the Mandate hook on Base. Anything outside asks you, with Face ID.</a:t>
            </a:r>
            <a:endParaRPr lang="en-US" sz="1600" dirty="0"/>
          </a:p>
        </p:txBody>
      </p:sp>
      <p:sp>
        <p:nvSpPr>
          <p:cNvPr id="12" name="Shape 8"/>
          <p:cNvSpPr/>
          <p:nvPr/>
        </p:nvSpPr>
        <p:spPr>
          <a:xfrm>
            <a:off x="8029575" y="2847777"/>
            <a:ext cx="3346450" cy="2698651"/>
          </a:xfrm>
          <a:prstGeom prst="roundRect">
            <a:avLst>
              <a:gd name="adj" fmla="val 5530"/>
            </a:avLst>
          </a:prstGeom>
          <a:solidFill>
            <a:srgbClr val="181B20"/>
          </a:solidFill>
          <a:ln w="6350">
            <a:solidFill>
              <a:srgbClr val="2A2E35"/>
            </a:solidFill>
            <a:prstDash val="solid"/>
          </a:ln>
        </p:spPr>
      </p:sp>
      <p:pic>
        <p:nvPicPr>
          <p:cNvPr id="13" name="Image 2" descr="Users">    </p:cNvPr>
          <p:cNvPicPr>
            <a:picLocks noChangeAspect="1"/>
          </p:cNvPicPr>
          <p:nvPr/>
        </p:nvPicPr>
        <p:blipFill>
          <a:blip r:embed="rId3"/>
          <a:srcRect l="0" r="0" t="0" b="0"/>
          <a:stretch/>
        </p:blipFill>
        <p:spPr>
          <a:xfrm>
            <a:off x="8337550" y="3155752"/>
            <a:ext cx="355600" cy="355600"/>
          </a:xfrm>
          <a:prstGeom prst="rect">
            <a:avLst/>
          </a:prstGeom>
        </p:spPr>
      </p:pic>
      <p:sp>
        <p:nvSpPr>
          <p:cNvPr id="14" name="Text 9"/>
          <p:cNvSpPr/>
          <p:nvPr/>
        </p:nvSpPr>
        <p:spPr>
          <a:xfrm>
            <a:off x="8337550" y="3638352"/>
            <a:ext cx="281241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F0EA"/>
                </a:solidFill>
                <a:latin typeface="Space Grotesk" pitchFamily="34" charset="0"/>
                <a:ea typeface="Space Grotesk" pitchFamily="34" charset="-122"/>
                <a:cs typeface="Space Grotesk" pitchFamily="34" charset="-120"/>
              </a:rPr>
              <a:t>Regulated</a:t>
            </a:r>
            <a:endParaRPr lang="en-US" sz="2200" dirty="0"/>
          </a:p>
        </p:txBody>
      </p:sp>
      <p:sp>
        <p:nvSpPr>
          <p:cNvPr id="15" name="Text 10"/>
          <p:cNvSpPr/>
          <p:nvPr/>
        </p:nvSpPr>
        <p:spPr>
          <a:xfrm>
            <a:off x="8337550" y="4100612"/>
            <a:ext cx="2812415"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B0BA"/>
                </a:solidFill>
                <a:latin typeface="IBM Plex Sans" pitchFamily="34" charset="0"/>
                <a:ea typeface="IBM Plex Sans" pitchFamily="34" charset="-122"/>
                <a:cs typeface="IBM Plex Sans" pitchFamily="34" charset="-120"/>
              </a:rPr>
              <a:t>A bank, a regulator and an operator on FISCO BCOS. One signature freezes; loosening needs two of three.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B84B"/>
                </a:solidFill>
                <a:latin typeface="IBM Plex Sans" pitchFamily="34" charset="0"/>
                <a:ea typeface="IBM Plex Sans" pitchFamily="34" charset="-122"/>
                <a:cs typeface="IBM Plex Sans" pitchFamily="34" charset="-120"/>
              </a:rPr>
              <a:t>ONE WEEK WITH PRAETOR</a:t>
            </a:r>
            <a:endParaRPr lang="en-US" sz="1200" dirty="0"/>
          </a:p>
        </p:txBody>
      </p:sp>
      <p:sp>
        <p:nvSpPr>
          <p:cNvPr id="3" name="Text 1"/>
          <p:cNvSpPr/>
          <p:nvPr>
            <p:ph type="title"/>
          </p:nvPr>
        </p:nvSpPr>
        <p:spPr>
          <a:xfrm>
            <a:off x="812800" y="1381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0EA"/>
                </a:solidFill>
                <a:latin typeface="Space Grotesk" pitchFamily="34" charset="0"/>
                <a:ea typeface="Space Grotesk" pitchFamily="34" charset="-122"/>
                <a:cs typeface="Space Grotesk" pitchFamily="34" charset="-120"/>
              </a:rPr>
              <a:t>What the user sees</a:t>
            </a:r>
            <a:endParaRPr lang="en-US" sz="3600" dirty="0"/>
          </a:p>
        </p:txBody>
      </p:sp>
      <p:sp>
        <p:nvSpPr>
          <p:cNvPr id="4" name="Shape 2"/>
          <p:cNvSpPr/>
          <p:nvPr/>
        </p:nvSpPr>
        <p:spPr>
          <a:xfrm>
            <a:off x="812800" y="2252861"/>
            <a:ext cx="2489200" cy="0"/>
          </a:xfrm>
          <a:prstGeom prst="line">
            <a:avLst/>
          </a:prstGeom>
          <a:noFill/>
          <a:ln w="25400">
            <a:solidFill>
              <a:srgbClr val="8AB4F8"/>
            </a:solidFill>
            <a:prstDash val="solid"/>
          </a:ln>
        </p:spPr>
      </p:sp>
      <p:sp>
        <p:nvSpPr>
          <p:cNvPr id="5" name="Text 3"/>
          <p:cNvSpPr/>
          <p:nvPr/>
        </p:nvSpPr>
        <p:spPr>
          <a:xfrm>
            <a:off x="812800" y="2468761"/>
            <a:ext cx="25638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0EA"/>
                </a:solidFill>
                <a:latin typeface="Space Grotesk" pitchFamily="34" charset="0"/>
                <a:ea typeface="Space Grotesk" pitchFamily="34" charset="-122"/>
                <a:cs typeface="Space Grotesk" pitchFamily="34" charset="-120"/>
              </a:rPr>
              <a:t>1 · Sign up</a:t>
            </a:r>
            <a:endParaRPr lang="en-US" sz="1600" dirty="0"/>
          </a:p>
        </p:txBody>
      </p:sp>
      <p:sp>
        <p:nvSpPr>
          <p:cNvPr id="6" name="Text 4"/>
          <p:cNvSpPr/>
          <p:nvPr/>
        </p:nvSpPr>
        <p:spPr>
          <a:xfrm>
            <a:off x="812800" y="2854821"/>
            <a:ext cx="256387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0BA"/>
                </a:solidFill>
                <a:latin typeface="IBM Plex Sans" pitchFamily="34" charset="0"/>
                <a:ea typeface="IBM Plex Sans" pitchFamily="34" charset="-122"/>
                <a:cs typeface="IBM Plex Sans" pitchFamily="34" charset="-120"/>
              </a:rPr>
              <a:t>KYC, a decentralised ID, a passkey. The agent gets a mandate credential.</a:t>
            </a:r>
            <a:endParaRPr lang="en-US" sz="1400" dirty="0"/>
          </a:p>
        </p:txBody>
      </p:sp>
      <p:sp>
        <p:nvSpPr>
          <p:cNvPr id="7" name="Shape 5"/>
          <p:cNvSpPr/>
          <p:nvPr/>
        </p:nvSpPr>
        <p:spPr>
          <a:xfrm>
            <a:off x="3505200" y="2252861"/>
            <a:ext cx="2489200" cy="0"/>
          </a:xfrm>
          <a:prstGeom prst="line">
            <a:avLst/>
          </a:prstGeom>
          <a:noFill/>
          <a:ln w="25400">
            <a:solidFill>
              <a:srgbClr val="8AB4F8"/>
            </a:solidFill>
            <a:prstDash val="solid"/>
          </a:ln>
        </p:spPr>
      </p:sp>
      <p:sp>
        <p:nvSpPr>
          <p:cNvPr id="8" name="Text 6"/>
          <p:cNvSpPr/>
          <p:nvPr/>
        </p:nvSpPr>
        <p:spPr>
          <a:xfrm>
            <a:off x="3505200" y="2468761"/>
            <a:ext cx="25638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0EA"/>
                </a:solidFill>
                <a:latin typeface="Space Grotesk" pitchFamily="34" charset="0"/>
                <a:ea typeface="Space Grotesk" pitchFamily="34" charset="-122"/>
                <a:cs typeface="Space Grotesk" pitchFamily="34" charset="-120"/>
              </a:rPr>
              <a:t>2 · Agent works</a:t>
            </a:r>
            <a:endParaRPr lang="en-US" sz="1600" dirty="0"/>
          </a:p>
        </p:txBody>
      </p:sp>
      <p:sp>
        <p:nvSpPr>
          <p:cNvPr id="9" name="Text 7"/>
          <p:cNvSpPr/>
          <p:nvPr/>
        </p:nvSpPr>
        <p:spPr>
          <a:xfrm>
            <a:off x="3505200" y="2854821"/>
            <a:ext cx="256387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0BA"/>
                </a:solidFill>
                <a:latin typeface="IBM Plex Sans" pitchFamily="34" charset="0"/>
                <a:ea typeface="IBM Plex Sans" pitchFamily="34" charset="-122"/>
                <a:cs typeface="IBM Plex Sans" pitchFamily="34" charset="-120"/>
              </a:rPr>
              <a:t>Gold rises; it rebalances to the bands. Rent goes out on the 1st. No taps.</a:t>
            </a:r>
            <a:endParaRPr lang="en-US" sz="1400" dirty="0"/>
          </a:p>
        </p:txBody>
      </p:sp>
      <p:sp>
        <p:nvSpPr>
          <p:cNvPr id="10" name="Shape 8"/>
          <p:cNvSpPr/>
          <p:nvPr/>
        </p:nvSpPr>
        <p:spPr>
          <a:xfrm>
            <a:off x="6197600" y="2252861"/>
            <a:ext cx="2489200" cy="0"/>
          </a:xfrm>
          <a:prstGeom prst="line">
            <a:avLst/>
          </a:prstGeom>
          <a:noFill/>
          <a:ln w="25400">
            <a:solidFill>
              <a:srgbClr val="E0B84B"/>
            </a:solidFill>
            <a:prstDash val="solid"/>
          </a:ln>
        </p:spPr>
      </p:sp>
      <p:sp>
        <p:nvSpPr>
          <p:cNvPr id="11" name="Text 9"/>
          <p:cNvSpPr/>
          <p:nvPr/>
        </p:nvSpPr>
        <p:spPr>
          <a:xfrm>
            <a:off x="6197600" y="2468761"/>
            <a:ext cx="25638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0EA"/>
                </a:solidFill>
                <a:latin typeface="Space Grotesk" pitchFamily="34" charset="0"/>
                <a:ea typeface="Space Grotesk" pitchFamily="34" charset="-122"/>
                <a:cs typeface="Space Grotesk" pitchFamily="34" charset="-120"/>
              </a:rPr>
              <a:t>3 · Asks you</a:t>
            </a:r>
            <a:endParaRPr lang="en-US" sz="1600" dirty="0"/>
          </a:p>
        </p:txBody>
      </p:sp>
      <p:sp>
        <p:nvSpPr>
          <p:cNvPr id="12" name="Text 10"/>
          <p:cNvSpPr/>
          <p:nvPr/>
        </p:nvSpPr>
        <p:spPr>
          <a:xfrm>
            <a:off x="6197600" y="2854821"/>
            <a:ext cx="256387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0BA"/>
                </a:solidFill>
                <a:latin typeface="IBM Plex Sans" pitchFamily="34" charset="0"/>
                <a:ea typeface="IBM Plex Sans" pitchFamily="34" charset="-122"/>
                <a:cs typeface="IBM Plex Sans" pitchFamily="34" charset="-120"/>
              </a:rPr>
              <a:t>A payment to a new payee: one Face ID in WeChat, checked on-chain.</a:t>
            </a:r>
            <a:endParaRPr lang="en-US" sz="1400" dirty="0"/>
          </a:p>
        </p:txBody>
      </p:sp>
      <p:sp>
        <p:nvSpPr>
          <p:cNvPr id="13" name="Shape 11"/>
          <p:cNvSpPr/>
          <p:nvPr/>
        </p:nvSpPr>
        <p:spPr>
          <a:xfrm>
            <a:off x="8890000" y="2252861"/>
            <a:ext cx="2489200" cy="0"/>
          </a:xfrm>
          <a:prstGeom prst="line">
            <a:avLst/>
          </a:prstGeom>
          <a:noFill/>
          <a:ln w="25400">
            <a:solidFill>
              <a:srgbClr val="E07A4B"/>
            </a:solidFill>
            <a:prstDash val="solid"/>
          </a:ln>
        </p:spPr>
      </p:sp>
      <p:sp>
        <p:nvSpPr>
          <p:cNvPr id="14" name="Text 12"/>
          <p:cNvSpPr/>
          <p:nvPr/>
        </p:nvSpPr>
        <p:spPr>
          <a:xfrm>
            <a:off x="8890000" y="2468761"/>
            <a:ext cx="25638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0EA"/>
                </a:solidFill>
                <a:latin typeface="Space Grotesk" pitchFamily="34" charset="0"/>
                <a:ea typeface="Space Grotesk" pitchFamily="34" charset="-122"/>
                <a:cs typeface="Space Grotesk" pitchFamily="34" charset="-120"/>
              </a:rPr>
              <a:t>4 · Brake</a:t>
            </a:r>
            <a:endParaRPr lang="en-US" sz="1600" dirty="0"/>
          </a:p>
        </p:txBody>
      </p:sp>
      <p:sp>
        <p:nvSpPr>
          <p:cNvPr id="15" name="Text 13"/>
          <p:cNvSpPr/>
          <p:nvPr/>
        </p:nvSpPr>
        <p:spPr>
          <a:xfrm>
            <a:off x="8890000" y="2854821"/>
            <a:ext cx="256387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0BA"/>
                </a:solidFill>
                <a:latin typeface="IBM Plex Sans" pitchFamily="34" charset="0"/>
                <a:ea typeface="IBM Plex Sans" pitchFamily="34" charset="-122"/>
                <a:cs typeface="IBM Plex Sans" pitchFamily="34" charset="-120"/>
              </a:rPr>
              <a:t>The payee hits a sanctions list. The regulator freezes it. Base enforces it 6 s later.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B84B"/>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ph type="title"/>
          </p:nvPr>
        </p:nvSpPr>
        <p:spPr>
          <a:xfrm>
            <a:off x="812800" y="11785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0EA"/>
                </a:solidFill>
                <a:latin typeface="Space Grotesk" pitchFamily="34" charset="0"/>
                <a:ea typeface="Space Grotesk" pitchFamily="34" charset="-122"/>
                <a:cs typeface="Space Grotesk" pitchFamily="34" charset="-120"/>
              </a:rPr>
              <a:t>Two chains, one rulebook</a:t>
            </a:r>
            <a:endParaRPr lang="en-US" sz="3600" dirty="0"/>
          </a:p>
        </p:txBody>
      </p:sp>
      <p:sp>
        <p:nvSpPr>
          <p:cNvPr id="4" name="Shape 2"/>
          <p:cNvSpPr/>
          <p:nvPr/>
        </p:nvSpPr>
        <p:spPr>
          <a:xfrm>
            <a:off x="815975" y="2162175"/>
            <a:ext cx="2406650" cy="1771650"/>
          </a:xfrm>
          <a:prstGeom prst="roundRect">
            <a:avLst>
              <a:gd name="adj" fmla="val 6989"/>
            </a:avLst>
          </a:prstGeom>
          <a:solidFill>
            <a:srgbClr val="181B20"/>
          </a:solidFill>
          <a:ln w="6350">
            <a:solidFill>
              <a:srgbClr val="2A2E35"/>
            </a:solidFill>
            <a:prstDash val="solid"/>
          </a:ln>
        </p:spPr>
      </p:sp>
      <p:sp>
        <p:nvSpPr>
          <p:cNvPr id="5" name="Text 3"/>
          <p:cNvSpPr/>
          <p:nvPr/>
        </p:nvSpPr>
        <p:spPr>
          <a:xfrm>
            <a:off x="1022350" y="2368550"/>
            <a:ext cx="205371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0EA"/>
                </a:solidFill>
                <a:latin typeface="Space Grotesk" pitchFamily="34" charset="0"/>
                <a:ea typeface="Space Grotesk" pitchFamily="34" charset="-122"/>
                <a:cs typeface="Space Grotesk" pitchFamily="34" charset="-120"/>
              </a:rPr>
              <a:t>You</a:t>
            </a:r>
            <a:endParaRPr lang="en-US" sz="1800" dirty="0"/>
          </a:p>
        </p:txBody>
      </p:sp>
      <p:sp>
        <p:nvSpPr>
          <p:cNvPr id="6" name="Text 4"/>
          <p:cNvSpPr/>
          <p:nvPr/>
        </p:nvSpPr>
        <p:spPr>
          <a:xfrm>
            <a:off x="1022350" y="2718991"/>
            <a:ext cx="205371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0BA"/>
                </a:solidFill>
                <a:latin typeface="IBM Plex Sans" pitchFamily="34" charset="0"/>
                <a:ea typeface="IBM Plex Sans" pitchFamily="34" charset="-122"/>
                <a:cs typeface="IBM Plex Sans" pitchFamily="34" charset="-120"/>
              </a:rPr>
              <a:t>WeChat mini program with SOTER Face ID · web app with a passkey</a:t>
            </a:r>
            <a:endParaRPr lang="en-US" sz="1200" dirty="0"/>
          </a:p>
        </p:txBody>
      </p:sp>
      <p:sp>
        <p:nvSpPr>
          <p:cNvPr id="7" name="Shape 5"/>
          <p:cNvSpPr/>
          <p:nvPr/>
        </p:nvSpPr>
        <p:spPr>
          <a:xfrm>
            <a:off x="3736975" y="2162175"/>
            <a:ext cx="2406650" cy="1771650"/>
          </a:xfrm>
          <a:prstGeom prst="roundRect">
            <a:avLst>
              <a:gd name="adj" fmla="val 6989"/>
            </a:avLst>
          </a:prstGeom>
          <a:solidFill>
            <a:srgbClr val="181B20"/>
          </a:solidFill>
          <a:ln w="6350">
            <a:solidFill>
              <a:srgbClr val="2A2E35"/>
            </a:solidFill>
            <a:prstDash val="solid"/>
          </a:ln>
        </p:spPr>
      </p:sp>
      <p:sp>
        <p:nvSpPr>
          <p:cNvPr id="8" name="Text 6"/>
          <p:cNvSpPr/>
          <p:nvPr/>
        </p:nvSpPr>
        <p:spPr>
          <a:xfrm>
            <a:off x="3943350" y="2368550"/>
            <a:ext cx="205371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0EA"/>
                </a:solidFill>
                <a:latin typeface="Space Grotesk" pitchFamily="34" charset="0"/>
                <a:ea typeface="Space Grotesk" pitchFamily="34" charset="-122"/>
                <a:cs typeface="Space Grotesk" pitchFamily="34" charset="-120"/>
              </a:rPr>
              <a:t>AI agent</a:t>
            </a:r>
            <a:endParaRPr lang="en-US" sz="1800" dirty="0"/>
          </a:p>
        </p:txBody>
      </p:sp>
      <p:sp>
        <p:nvSpPr>
          <p:cNvPr id="9" name="Text 7"/>
          <p:cNvSpPr/>
          <p:nvPr/>
        </p:nvSpPr>
        <p:spPr>
          <a:xfrm>
            <a:off x="3943350" y="2718991"/>
            <a:ext cx="205371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0BA"/>
                </a:solidFill>
                <a:latin typeface="IBM Plex Sans" pitchFamily="34" charset="0"/>
                <a:ea typeface="IBM Plex Sans" pitchFamily="34" charset="-122"/>
                <a:cs typeface="IBM Plex Sans" pitchFamily="34" charset="-120"/>
              </a:rPr>
              <a:t>DeepSeek in OpenCode, calling our wallet over MCP. Its key sits in a TEE signer.</a:t>
            </a:r>
            <a:endParaRPr lang="en-US" sz="1200" dirty="0"/>
          </a:p>
        </p:txBody>
      </p:sp>
      <p:sp>
        <p:nvSpPr>
          <p:cNvPr id="10" name="Shape 8"/>
          <p:cNvSpPr/>
          <p:nvPr/>
        </p:nvSpPr>
        <p:spPr>
          <a:xfrm>
            <a:off x="6657975" y="2162175"/>
            <a:ext cx="4718050" cy="1771650"/>
          </a:xfrm>
          <a:prstGeom prst="roundRect">
            <a:avLst>
              <a:gd name="adj" fmla="val 6989"/>
            </a:avLst>
          </a:prstGeom>
          <a:solidFill>
            <a:srgbClr val="16202E"/>
          </a:solidFill>
          <a:ln w="6350">
            <a:solidFill>
              <a:srgbClr val="2F4A6E"/>
            </a:solidFill>
            <a:prstDash val="solid"/>
          </a:ln>
        </p:spPr>
      </p:sp>
      <p:sp>
        <p:nvSpPr>
          <p:cNvPr id="11" name="Text 9"/>
          <p:cNvSpPr/>
          <p:nvPr/>
        </p:nvSpPr>
        <p:spPr>
          <a:xfrm>
            <a:off x="6864350" y="2368550"/>
            <a:ext cx="443445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8AB4F8"/>
                </a:solidFill>
                <a:latin typeface="Space Grotesk" pitchFamily="34" charset="0"/>
                <a:ea typeface="Space Grotesk" pitchFamily="34" charset="-122"/>
                <a:cs typeface="Space Grotesk" pitchFamily="34" charset="-120"/>
              </a:rPr>
              <a:t>Base · holds the money</a:t>
            </a:r>
            <a:endParaRPr lang="en-US" sz="1800" dirty="0"/>
          </a:p>
        </p:txBody>
      </p:sp>
      <p:sp>
        <p:nvSpPr>
          <p:cNvPr id="12" name="Text 10"/>
          <p:cNvSpPr/>
          <p:nvPr/>
        </p:nvSpPr>
        <p:spPr>
          <a:xfrm>
            <a:off x="6864350" y="2718991"/>
            <a:ext cx="4434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E8"/>
                </a:solidFill>
                <a:latin typeface="IBM Plex Sans" pitchFamily="34" charset="0"/>
                <a:ea typeface="IBM Plex Sans" pitchFamily="34" charset="-122"/>
                <a:cs typeface="IBM Plex Sans" pitchFamily="34" charset="-120"/>
              </a:rPr>
              <a:t>ERC-4337 smart account (Safe7579) + our Mandate hook: caps, payees, price bands. On-chain Face ID check. Refusal log.</a:t>
            </a:r>
            <a:endParaRPr lang="en-US" sz="1200" dirty="0"/>
          </a:p>
        </p:txBody>
      </p:sp>
      <p:sp>
        <p:nvSpPr>
          <p:cNvPr id="13" name="Shape 11"/>
          <p:cNvSpPr/>
          <p:nvPr/>
        </p:nvSpPr>
        <p:spPr>
          <a:xfrm>
            <a:off x="6657975" y="4448175"/>
            <a:ext cx="4718050" cy="1517650"/>
          </a:xfrm>
          <a:prstGeom prst="roundRect">
            <a:avLst>
              <a:gd name="adj" fmla="val 8159"/>
            </a:avLst>
          </a:prstGeom>
          <a:solidFill>
            <a:srgbClr val="2A2312"/>
          </a:solidFill>
          <a:ln w="6350">
            <a:solidFill>
              <a:srgbClr val="6E5A24"/>
            </a:solidFill>
            <a:prstDash val="solid"/>
          </a:ln>
        </p:spPr>
      </p:sp>
      <p:sp>
        <p:nvSpPr>
          <p:cNvPr id="14" name="Text 12"/>
          <p:cNvSpPr/>
          <p:nvPr/>
        </p:nvSpPr>
        <p:spPr>
          <a:xfrm>
            <a:off x="6864350" y="4654550"/>
            <a:ext cx="443445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0B84B"/>
                </a:solidFill>
                <a:latin typeface="Space Grotesk" pitchFamily="34" charset="0"/>
                <a:ea typeface="Space Grotesk" pitchFamily="34" charset="-122"/>
                <a:cs typeface="Space Grotesk" pitchFamily="34" charset="-120"/>
              </a:rPr>
              <a:t>FISCO BCOS · holds the authority</a:t>
            </a:r>
            <a:endParaRPr lang="en-US" sz="1800" dirty="0"/>
          </a:p>
        </p:txBody>
      </p:sp>
      <p:sp>
        <p:nvSpPr>
          <p:cNvPr id="15" name="Text 13"/>
          <p:cNvSpPr/>
          <p:nvPr/>
        </p:nvSpPr>
        <p:spPr>
          <a:xfrm>
            <a:off x="6864350" y="5004991"/>
            <a:ext cx="4434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CC3"/>
                </a:solidFill>
                <a:latin typeface="IBM Plex Sans" pitchFamily="34" charset="0"/>
                <a:ea typeface="IBM Plex Sans" pitchFamily="34" charset="-122"/>
                <a:cs typeface="IBM Plex Sans" pitchFamily="34" charset="-120"/>
              </a:rPr>
              <a:t>Bank, regulator, operator nodes. Freeze, loosen, sanctions, caps, jurisdictions. Audit chain.</a:t>
            </a:r>
            <a:endParaRPr lang="en-US" sz="1200" dirty="0"/>
          </a:p>
        </p:txBody>
      </p:sp>
      <p:sp>
        <p:nvSpPr>
          <p:cNvPr id="16" name="Shape 14"/>
          <p:cNvSpPr/>
          <p:nvPr/>
        </p:nvSpPr>
        <p:spPr>
          <a:xfrm>
            <a:off x="815975" y="4448175"/>
            <a:ext cx="5327650" cy="1517650"/>
          </a:xfrm>
          <a:prstGeom prst="roundRect">
            <a:avLst>
              <a:gd name="adj" fmla="val 8159"/>
            </a:avLst>
          </a:prstGeom>
          <a:solidFill>
            <a:srgbClr val="181B20"/>
          </a:solidFill>
          <a:ln w="6350">
            <a:solidFill>
              <a:srgbClr val="2A2E35"/>
            </a:solidFill>
            <a:prstDash val="solid"/>
          </a:ln>
        </p:spPr>
      </p:sp>
      <p:sp>
        <p:nvSpPr>
          <p:cNvPr id="17" name="Text 15"/>
          <p:cNvSpPr/>
          <p:nvPr/>
        </p:nvSpPr>
        <p:spPr>
          <a:xfrm>
            <a:off x="1022350" y="4654550"/>
            <a:ext cx="506234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0EA"/>
                </a:solidFill>
                <a:latin typeface="Space Grotesk" pitchFamily="34" charset="0"/>
                <a:ea typeface="Space Grotesk" pitchFamily="34" charset="-122"/>
                <a:cs typeface="Space Grotesk" pitchFamily="34" charset="-120"/>
              </a:rPr>
              <a:t>Identity · WeIdentity</a:t>
            </a:r>
            <a:endParaRPr lang="en-US" sz="1800" dirty="0"/>
          </a:p>
        </p:txBody>
      </p:sp>
      <p:sp>
        <p:nvSpPr>
          <p:cNvPr id="18" name="Text 16"/>
          <p:cNvSpPr/>
          <p:nvPr/>
        </p:nvSpPr>
        <p:spPr>
          <a:xfrm>
            <a:off x="1022350" y="5004991"/>
            <a:ext cx="506234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0BA"/>
                </a:solidFill>
                <a:latin typeface="IBM Plex Sans" pitchFamily="34" charset="0"/>
                <a:ea typeface="IBM Plex Sans" pitchFamily="34" charset="-122"/>
                <a:cs typeface="IBM Plex Sans" pitchFamily="34" charset="-120"/>
              </a:rPr>
              <a:t>Decentralised IDs for user, agent and staff. KYC credential and the agent’s mandate credential.</a:t>
            </a:r>
            <a:endParaRPr lang="en-US" sz="1200" dirty="0"/>
          </a:p>
        </p:txBody>
      </p:sp>
      <p:pic>
        <p:nvPicPr>
          <p:cNvPr id="19" name="Image 0" descr="connector">    </p:cNvPr>
          <p:cNvPicPr>
            <a:picLocks noChangeAspect="1"/>
          </p:cNvPicPr>
          <p:nvPr/>
        </p:nvPicPr>
        <p:blipFill>
          <a:blip r:embed="rId1"/>
          <a:srcRect l="0" r="0" t="0" b="0"/>
          <a:stretch/>
        </p:blipFill>
        <p:spPr>
          <a:xfrm>
            <a:off x="3175000" y="2997200"/>
            <a:ext cx="609600" cy="101600"/>
          </a:xfrm>
          <a:prstGeom prst="rect">
            <a:avLst/>
          </a:prstGeom>
        </p:spPr>
      </p:pic>
      <p:pic>
        <p:nvPicPr>
          <p:cNvPr id="20" name="Image 1" descr="connector">    </p:cNvPr>
          <p:cNvPicPr>
            <a:picLocks noChangeAspect="1"/>
          </p:cNvPicPr>
          <p:nvPr/>
        </p:nvPicPr>
        <p:blipFill>
          <a:blip r:embed="rId2"/>
          <a:srcRect l="0" r="0" t="0" b="0"/>
          <a:stretch/>
        </p:blipFill>
        <p:spPr>
          <a:xfrm>
            <a:off x="6096000" y="2997200"/>
            <a:ext cx="609600" cy="101600"/>
          </a:xfrm>
          <a:prstGeom prst="rect">
            <a:avLst/>
          </a:prstGeom>
        </p:spPr>
      </p:pic>
      <p:pic>
        <p:nvPicPr>
          <p:cNvPr id="21" name="Image 2" descr="connector">    </p:cNvPr>
          <p:cNvPicPr>
            <a:picLocks noChangeAspect="1"/>
          </p:cNvPicPr>
          <p:nvPr/>
        </p:nvPicPr>
        <p:blipFill>
          <a:blip r:embed="rId3"/>
          <a:srcRect l="0" r="0" t="0" b="0"/>
          <a:stretch/>
        </p:blipFill>
        <p:spPr>
          <a:xfrm>
            <a:off x="6096000" y="5156200"/>
            <a:ext cx="609600" cy="101600"/>
          </a:xfrm>
          <a:prstGeom prst="rect">
            <a:avLst/>
          </a:prstGeom>
        </p:spPr>
      </p:pic>
      <p:pic>
        <p:nvPicPr>
          <p:cNvPr id="22" name="Image 3" descr="connector">    </p:cNvPr>
          <p:cNvPicPr>
            <a:picLocks noChangeAspect="1"/>
          </p:cNvPicPr>
          <p:nvPr/>
        </p:nvPicPr>
        <p:blipFill>
          <a:blip r:embed="rId4"/>
          <a:srcRect l="0" r="0" t="0" b="0"/>
          <a:stretch/>
        </p:blipFill>
        <p:spPr>
          <a:xfrm>
            <a:off x="8966200" y="3886200"/>
            <a:ext cx="101600" cy="609600"/>
          </a:xfrm>
          <a:prstGeom prst="rect">
            <a:avLst/>
          </a:prstGeom>
        </p:spPr>
      </p:pic>
      <p:sp>
        <p:nvSpPr>
          <p:cNvPr id="23" name="Text 17"/>
          <p:cNvSpPr/>
          <p:nvPr/>
        </p:nvSpPr>
        <p:spPr>
          <a:xfrm>
            <a:off x="9144000" y="4038600"/>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B84B"/>
                </a:solidFill>
                <a:latin typeface="IBM Plex Sans" pitchFamily="34" charset="0"/>
                <a:ea typeface="IBM Plex Sans" pitchFamily="34" charset="-122"/>
                <a:cs typeface="IBM Plex Sans" pitchFamily="34" charset="-120"/>
              </a:rPr>
              <a:t>WeCross · signed, 6 s measured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4"/>
                </a:solidFill>
                <a:latin typeface="IBM Plex Sans" pitchFamily="34" charset="0"/>
                <a:ea typeface="IBM Plex Sans" pitchFamily="34" charset="-122"/>
                <a:cs typeface="IBM Plex Sans" pitchFamily="34" charset="-120"/>
              </a:rPr>
              <a:t>SECURITY · PERMISSION TIERS</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71C"/>
                </a:solidFill>
                <a:latin typeface="Space Grotesk" pitchFamily="34" charset="0"/>
                <a:ea typeface="Space Grotesk" pitchFamily="34" charset="-122"/>
                <a:cs typeface="Space Grotesk" pitchFamily="34" charset="-120"/>
              </a:rPr>
              <a:t>Who must say yes, by risk</a:t>
            </a:r>
            <a:endParaRPr lang="en-US" sz="3600" dirty="0"/>
          </a:p>
        </p:txBody>
      </p:sp>
      <p:sp>
        <p:nvSpPr>
          <p:cNvPr id="4" name="Shape 2"/>
          <p:cNvSpPr/>
          <p:nvPr/>
        </p:nvSpPr>
        <p:spPr>
          <a:xfrm>
            <a:off x="812800" y="2043311"/>
            <a:ext cx="10566400" cy="0"/>
          </a:xfrm>
          <a:prstGeom prst="line">
            <a:avLst/>
          </a:prstGeom>
          <a:noFill/>
          <a:ln w="12700">
            <a:solidFill>
              <a:srgbClr val="141413">
                <a:alpha val="22000"/>
              </a:srgbClr>
            </a:solidFill>
            <a:prstDash val="solid"/>
          </a:ln>
        </p:spPr>
      </p:sp>
      <p:sp>
        <p:nvSpPr>
          <p:cNvPr id="5" name="Shape 3"/>
          <p:cNvSpPr/>
          <p:nvPr/>
        </p:nvSpPr>
        <p:spPr>
          <a:xfrm>
            <a:off x="819150" y="2036961"/>
            <a:ext cx="0" cy="2780506"/>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2500" y="2151261"/>
          <a:ext cx="10299700" cy="2564606"/>
        </p:xfrm>
        <a:graphic>
          <a:graphicData uri="http://schemas.openxmlformats.org/drawingml/2006/table">
            <a:tbl>
              <a:tblPr/>
              <a:tblGrid>
                <a:gridCol w="1235964"/>
                <a:gridCol w="3089910"/>
                <a:gridCol w="5973826"/>
              </a:tblGrid>
              <a:tr h="385961">
                <a:tc>
                  <a:txBody>
                    <a:bodyPr/>
                    <a:lstStyle/>
                    <a:p>
                      <a:pPr indent="0" marL="0">
                        <a:lnSpc>
                          <a:spcPts val="1960"/>
                        </a:lnSpc>
                        <a:buNone/>
                      </a:pPr>
                      <a:r>
                        <a:rPr lang="en-US" sz="1400" b="1" dirty="0">
                          <a:solidFill>
                            <a:srgbClr val="14171C"/>
                          </a:solidFill>
                          <a:latin typeface="IBM Plex Sans" pitchFamily="34" charset="0"/>
                          <a:ea typeface="IBM Plex Sans" pitchFamily="34" charset="-122"/>
                          <a:cs typeface="IBM Plex Sans" pitchFamily="34" charset="-120"/>
                        </a:rPr>
                        <a:t>Tier</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4B2AF"/>
                      </a:solidFill>
                      <a:prstDash val="solid"/>
                      <a:round/>
                      <a:headEnd type="none" w="med" len="med"/>
                      <a:tailEnd type="none" w="med" len="med"/>
                    </a:lnR>
                    <a:lnT w="0" cap="flat" cmpd="sng" algn="ctr">
                      <a:noFill/>
                    </a:lnT>
                    <a:lnB w="12700" cap="flat" cmpd="sng" algn="ctr">
                      <a:solidFill>
                        <a:srgbClr val="B4B2AF"/>
                      </a:solidFill>
                      <a:prstDash val="solid"/>
                      <a:round/>
                      <a:headEnd type="none" w="med" len="med"/>
                      <a:tailEnd type="none" w="med" len="med"/>
                    </a:lnB>
                    <a:solidFill>
                      <a:srgbClr val="E1DFDB"/>
                    </a:solidFill>
                  </a:tcPr>
                </a:tc>
                <a:tc>
                  <a:txBody>
                    <a:bodyPr/>
                    <a:lstStyle/>
                    <a:p>
                      <a:pPr indent="0" marL="0">
                        <a:lnSpc>
                          <a:spcPts val="1960"/>
                        </a:lnSpc>
                        <a:buNone/>
                      </a:pPr>
                      <a:r>
                        <a:rPr lang="en-US" sz="1400" b="1" dirty="0">
                          <a:solidFill>
                            <a:srgbClr val="14171C"/>
                          </a:solidFill>
                          <a:latin typeface="IBM Plex Sans" pitchFamily="34" charset="0"/>
                          <a:ea typeface="IBM Plex Sans" pitchFamily="34" charset="-122"/>
                          <a:cs typeface="IBM Plex Sans" pitchFamily="34" charset="-120"/>
                        </a:rPr>
                        <a:t>Who decides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4B2AF"/>
                      </a:solidFill>
                      <a:prstDash val="solid"/>
                      <a:round/>
                      <a:headEnd type="none" w="med" len="med"/>
                      <a:tailEnd type="none" w="med" len="med"/>
                    </a:lnL>
                    <a:lnR w="12700" cap="flat" cmpd="sng" algn="ctr">
                      <a:solidFill>
                        <a:srgbClr val="B4B2AF"/>
                      </a:solidFill>
                      <a:prstDash val="solid"/>
                      <a:round/>
                      <a:headEnd type="none" w="med" len="med"/>
                      <a:tailEnd type="none" w="med" len="med"/>
                    </a:lnR>
                    <a:lnT w="0" cap="flat" cmpd="sng" algn="ctr">
                      <a:noFill/>
                    </a:lnT>
                    <a:lnB w="12700" cap="flat" cmpd="sng" algn="ctr">
                      <a:solidFill>
                        <a:srgbClr val="B4B2AF"/>
                      </a:solidFill>
                      <a:prstDash val="solid"/>
                      <a:round/>
                      <a:headEnd type="none" w="med" len="med"/>
                      <a:tailEnd type="none" w="med" len="med"/>
                    </a:lnB>
                    <a:solidFill>
                      <a:srgbClr val="E1DFDB"/>
                    </a:solidFill>
                  </a:tcPr>
                </a:tc>
                <a:tc>
                  <a:txBody>
                    <a:bodyPr/>
                    <a:lstStyle/>
                    <a:p>
                      <a:pPr indent="0" marL="0">
                        <a:lnSpc>
                          <a:spcPts val="1960"/>
                        </a:lnSpc>
                        <a:buNone/>
                      </a:pPr>
                      <a:r>
                        <a:rPr lang="en-US" sz="1400" b="1" dirty="0">
                          <a:solidFill>
                            <a:srgbClr val="14171C"/>
                          </a:solidFill>
                          <a:latin typeface="IBM Plex Sans" pitchFamily="34" charset="0"/>
                          <a:ea typeface="IBM Plex Sans" pitchFamily="34" charset="-122"/>
                          <a:cs typeface="IBM Plex Sans" pitchFamily="34" charset="-120"/>
                        </a:rPr>
                        <a:t>Examples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4B2AF"/>
                      </a:solidFill>
                      <a:prstDash val="solid"/>
                      <a:round/>
                      <a:headEnd type="none" w="med" len="med"/>
                      <a:tailEnd type="none" w="med" len="med"/>
                    </a:lnL>
                    <a:lnR w="12700" cap="flat" cmpd="sng" algn="ctr">
                      <a:solidFill>
                        <a:srgbClr val="B4B2AF"/>
                      </a:solidFill>
                      <a:prstDash val="solid"/>
                      <a:round/>
                      <a:headEnd type="none" w="med" len="med"/>
                      <a:tailEnd type="none" w="med" len="med"/>
                    </a:lnR>
                    <a:lnT w="0" cap="flat" cmpd="sng" algn="ctr">
                      <a:noFill/>
                    </a:lnT>
                    <a:lnB w="12700" cap="flat" cmpd="sng" algn="ctr">
                      <a:solidFill>
                        <a:srgbClr val="B4B2AF"/>
                      </a:solidFill>
                      <a:prstDash val="solid"/>
                      <a:round/>
                      <a:headEnd type="none" w="med" len="med"/>
                      <a:tailEnd type="none" w="med" len="med"/>
                    </a:lnB>
                    <a:solidFill>
                      <a:srgbClr val="E1DFDB"/>
                    </a:solidFill>
                  </a:tcPr>
                </a:tc>
              </a:tr>
              <a:tr h="385961">
                <a:tc>
                  <a:txBody>
                    <a:bodyPr/>
                    <a:lstStyle/>
                    <a:p>
                      <a:pPr indent="0" marL="0">
                        <a:lnSpc>
                          <a:spcPts val="1960"/>
                        </a:lnSpc>
                        <a:buNone/>
                      </a:pPr>
                      <a:r>
                        <a:rPr lang="en-US" sz="1400" dirty="0">
                          <a:solidFill>
                            <a:srgbClr val="14171C"/>
                          </a:solidFill>
                          <a:latin typeface="IBM Plex Sans" pitchFamily="34" charset="0"/>
                          <a:ea typeface="IBM Plex Sans" pitchFamily="34" charset="-122"/>
                          <a:cs typeface="IBM Plex Sans" pitchFamily="34" charset="-120"/>
                        </a:rPr>
                        <a:t>T0</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2C0BC"/>
                      </a:solidFill>
                      <a:prstDash val="solid"/>
                      <a:round/>
                      <a:headEnd type="none" w="med" len="med"/>
                      <a:tailEnd type="none" w="med" len="med"/>
                    </a:lnR>
                    <a:lnT w="12700" cap="flat" cmpd="sng" algn="ctr">
                      <a:solidFill>
                        <a:srgbClr val="B4B2AF"/>
                      </a:solidFill>
                      <a:prstDash val="solid"/>
                      <a:round/>
                      <a:headEnd type="none" w="med" len="med"/>
                      <a:tailEnd type="none" w="med" len="med"/>
                    </a:lnT>
                    <a:lnB w="12700" cap="flat" cmpd="sng" algn="ctr">
                      <a:solidFill>
                        <a:srgbClr val="C2C0BC"/>
                      </a:solidFill>
                      <a:prstDash val="solid"/>
                      <a:round/>
                      <a:headEnd type="none" w="med" len="med"/>
                      <a:tailEnd type="none" w="med" len="med"/>
                    </a:lnB>
                  </a:tcPr>
                </a:tc>
                <a:tc>
                  <a:txBody>
                    <a:bodyPr/>
                    <a:lstStyle/>
                    <a:p>
                      <a:pPr indent="0" marL="0">
                        <a:lnSpc>
                          <a:spcPts val="1960"/>
                        </a:lnSpc>
                        <a:buNone/>
                      </a:pPr>
                      <a:r>
                        <a:rPr lang="en-US" sz="1400" dirty="0">
                          <a:solidFill>
                            <a:srgbClr val="14171C"/>
                          </a:solidFill>
                          <a:latin typeface="IBM Plex Sans" pitchFamily="34" charset="0"/>
                          <a:ea typeface="IBM Plex Sans" pitchFamily="34" charset="-122"/>
                          <a:cs typeface="IBM Plex Sans" pitchFamily="34" charset="-120"/>
                        </a:rPr>
                        <a:t>Never allowed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B4B2AF"/>
                      </a:solidFill>
                      <a:prstDash val="solid"/>
                      <a:round/>
                      <a:headEnd type="none" w="med" len="med"/>
                      <a:tailEnd type="none" w="med" len="med"/>
                    </a:lnT>
                    <a:lnB w="12700" cap="flat" cmpd="sng" algn="ctr">
                      <a:solidFill>
                        <a:srgbClr val="C2C0BC"/>
                      </a:solidFill>
                      <a:prstDash val="solid"/>
                      <a:round/>
                      <a:headEnd type="none" w="med" len="med"/>
                      <a:tailEnd type="none" w="med" len="med"/>
                    </a:lnB>
                  </a:tcPr>
                </a:tc>
                <a:tc>
                  <a:txBody>
                    <a:bodyPr/>
                    <a:lstStyle/>
                    <a:p>
                      <a:pPr indent="0" marL="0">
                        <a:lnSpc>
                          <a:spcPts val="1960"/>
                        </a:lnSpc>
                        <a:buNone/>
                      </a:pPr>
                      <a:r>
                        <a:rPr lang="en-US" sz="1400" dirty="0">
                          <a:solidFill>
                            <a:srgbClr val="14171C"/>
                          </a:solidFill>
                          <a:latin typeface="IBM Plex Sans" pitchFamily="34" charset="0"/>
                          <a:ea typeface="IBM Plex Sans" pitchFamily="34" charset="-122"/>
                          <a:cs typeface="IBM Plex Sans" pitchFamily="34" charset="-120"/>
                        </a:rPr>
                        <a:t>Sanctioned payee, blocked jurisdiction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B4B2AF"/>
                      </a:solidFill>
                      <a:prstDash val="solid"/>
                      <a:round/>
                      <a:headEnd type="none" w="med" len="med"/>
                      <a:tailEnd type="none" w="med" len="med"/>
                    </a:lnT>
                    <a:lnB w="12700" cap="flat" cmpd="sng" algn="ctr">
                      <a:solidFill>
                        <a:srgbClr val="C2C0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71C"/>
                          </a:solidFill>
                          <a:latin typeface="IBM Plex Sans" pitchFamily="34" charset="0"/>
                          <a:ea typeface="IBM Plex Sans" pitchFamily="34" charset="-122"/>
                          <a:cs typeface="IBM Plex Sans" pitchFamily="34" charset="-120"/>
                        </a:rPr>
                        <a:t>T1</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9BEC6"/>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B9BEC6"/>
                      </a:solidFill>
                      <a:prstDash val="solid"/>
                      <a:round/>
                      <a:headEnd type="none" w="med" len="med"/>
                      <a:tailEnd type="none" w="med" len="med"/>
                    </a:lnB>
                    <a:solidFill>
                      <a:srgbClr val="E8EEF8"/>
                    </a:solidFill>
                  </a:tcPr>
                </a:tc>
                <a:tc>
                  <a:txBody>
                    <a:bodyPr/>
                    <a:lstStyle/>
                    <a:p>
                      <a:pPr indent="0" marL="0">
                        <a:lnSpc>
                          <a:spcPts val="1960"/>
                        </a:lnSpc>
                        <a:buNone/>
                      </a:pPr>
                      <a:r>
                        <a:rPr lang="en-US" sz="1400" dirty="0">
                          <a:solidFill>
                            <a:srgbClr val="14171C"/>
                          </a:solidFill>
                          <a:latin typeface="IBM Plex Sans" pitchFamily="34" charset="0"/>
                          <a:ea typeface="IBM Plex Sans" pitchFamily="34" charset="-122"/>
                          <a:cs typeface="IBM Plex Sans" pitchFamily="34" charset="-120"/>
                        </a:rPr>
                        <a:t>Agent alone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EC6"/>
                      </a:solidFill>
                      <a:prstDash val="solid"/>
                      <a:round/>
                      <a:headEnd type="none" w="med" len="med"/>
                      <a:tailEnd type="none" w="med" len="med"/>
                    </a:lnL>
                    <a:lnR w="12700" cap="flat" cmpd="sng" algn="ctr">
                      <a:solidFill>
                        <a:srgbClr val="B9BEC6"/>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B9BEC6"/>
                      </a:solidFill>
                      <a:prstDash val="solid"/>
                      <a:round/>
                      <a:headEnd type="none" w="med" len="med"/>
                      <a:tailEnd type="none" w="med" len="med"/>
                    </a:lnB>
                    <a:solidFill>
                      <a:srgbClr val="E8EEF8"/>
                    </a:solidFill>
                  </a:tcPr>
                </a:tc>
                <a:tc>
                  <a:txBody>
                    <a:bodyPr/>
                    <a:lstStyle/>
                    <a:p>
                      <a:pPr indent="0" marL="0">
                        <a:lnSpc>
                          <a:spcPts val="1960"/>
                        </a:lnSpc>
                        <a:buNone/>
                      </a:pPr>
                      <a:r>
                        <a:rPr lang="en-US" sz="1400" dirty="0">
                          <a:solidFill>
                            <a:srgbClr val="14171C"/>
                          </a:solidFill>
                          <a:latin typeface="IBM Plex Sans" pitchFamily="34" charset="0"/>
                          <a:ea typeface="IBM Plex Sans" pitchFamily="34" charset="-122"/>
                          <a:cs typeface="IBM Plex Sans" pitchFamily="34" charset="-120"/>
                        </a:rPr>
                        <a:t>Rebalance inside bands, pay a known payee under cap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EC6"/>
                      </a:solidFill>
                      <a:prstDash val="solid"/>
                      <a:round/>
                      <a:headEnd type="none" w="med" len="med"/>
                      <a:tailEnd type="none" w="med" len="med"/>
                    </a:lnL>
                    <a:lnR w="12700" cap="flat" cmpd="sng" algn="ctr">
                      <a:solidFill>
                        <a:srgbClr val="B9BEC6"/>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B9BEC6"/>
                      </a:solidFill>
                      <a:prstDash val="solid"/>
                      <a:round/>
                      <a:headEnd type="none" w="med" len="med"/>
                      <a:tailEnd type="none" w="med" len="med"/>
                    </a:lnB>
                    <a:solidFill>
                      <a:srgbClr val="E8EEF8"/>
                    </a:solidFill>
                  </a:tcPr>
                </a:tc>
              </a:tr>
              <a:tr h="634802">
                <a:tc>
                  <a:txBody>
                    <a:bodyPr/>
                    <a:lstStyle/>
                    <a:p>
                      <a:pPr indent="0" marL="0">
                        <a:lnSpc>
                          <a:spcPts val="1960"/>
                        </a:lnSpc>
                        <a:buNone/>
                      </a:pPr>
                      <a:r>
                        <a:rPr lang="en-US" sz="1400" dirty="0">
                          <a:solidFill>
                            <a:srgbClr val="14171C"/>
                          </a:solidFill>
                          <a:latin typeface="IBM Plex Sans" pitchFamily="34" charset="0"/>
                          <a:ea typeface="IBM Plex Sans" pitchFamily="34" charset="-122"/>
                          <a:cs typeface="IBM Plex Sans" pitchFamily="34" charset="-120"/>
                        </a:rPr>
                        <a:t>T2</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2C0BC"/>
                      </a:solidFill>
                      <a:prstDash val="solid"/>
                      <a:round/>
                      <a:headEnd type="none" w="med" len="med"/>
                      <a:tailEnd type="none" w="med" len="med"/>
                    </a:lnR>
                    <a:lnT w="12700" cap="flat" cmpd="sng" algn="ctr">
                      <a:solidFill>
                        <a:srgbClr val="B9BEC6"/>
                      </a:solidFill>
                      <a:prstDash val="solid"/>
                      <a:round/>
                      <a:headEnd type="none" w="med" len="med"/>
                      <a:tailEnd type="none" w="med" len="med"/>
                    </a:lnT>
                    <a:lnB w="12700" cap="flat" cmpd="sng" algn="ctr">
                      <a:solidFill>
                        <a:srgbClr val="C2C0BC"/>
                      </a:solidFill>
                      <a:prstDash val="solid"/>
                      <a:round/>
                      <a:headEnd type="none" w="med" len="med"/>
                      <a:tailEnd type="none" w="med" len="med"/>
                    </a:lnB>
                  </a:tcPr>
                </a:tc>
                <a:tc>
                  <a:txBody>
                    <a:bodyPr/>
                    <a:lstStyle/>
                    <a:p>
                      <a:pPr indent="0" marL="0">
                        <a:lnSpc>
                          <a:spcPts val="1960"/>
                        </a:lnSpc>
                        <a:buNone/>
                      </a:pPr>
                      <a:r>
                        <a:rPr lang="en-US" sz="1400" dirty="0">
                          <a:solidFill>
                            <a:srgbClr val="14171C"/>
                          </a:solidFill>
                          <a:latin typeface="IBM Plex Sans" pitchFamily="34" charset="0"/>
                          <a:ea typeface="IBM Plex Sans" pitchFamily="34" charset="-122"/>
                          <a:cs typeface="IBM Plex Sans" pitchFamily="34" charset="-120"/>
                        </a:rPr>
                        <a:t>You, Face ID in WeChat or a passkey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B9BEC6"/>
                      </a:solidFill>
                      <a:prstDash val="solid"/>
                      <a:round/>
                      <a:headEnd type="none" w="med" len="med"/>
                      <a:tailEnd type="none" w="med" len="med"/>
                    </a:lnT>
                    <a:lnB w="12700" cap="flat" cmpd="sng" algn="ctr">
                      <a:solidFill>
                        <a:srgbClr val="C2C0BC"/>
                      </a:solidFill>
                      <a:prstDash val="solid"/>
                      <a:round/>
                      <a:headEnd type="none" w="med" len="med"/>
                      <a:tailEnd type="none" w="med" len="med"/>
                    </a:lnB>
                  </a:tcPr>
                </a:tc>
                <a:tc>
                  <a:txBody>
                    <a:bodyPr/>
                    <a:lstStyle/>
                    <a:p>
                      <a:pPr indent="0" marL="0">
                        <a:lnSpc>
                          <a:spcPts val="1960"/>
                        </a:lnSpc>
                        <a:buNone/>
                      </a:pPr>
                      <a:r>
                        <a:rPr lang="en-US" sz="1400" dirty="0">
                          <a:solidFill>
                            <a:srgbClr val="14171C"/>
                          </a:solidFill>
                          <a:latin typeface="IBM Plex Sans" pitchFamily="34" charset="0"/>
                          <a:ea typeface="IBM Plex Sans" pitchFamily="34" charset="-122"/>
                          <a:cs typeface="IBM Plex Sans" pitchFamily="34" charset="-120"/>
                        </a:rPr>
                        <a:t>New payee, or above the agent’s limit; single-use, checked on-chain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B9BEC6"/>
                      </a:solidFill>
                      <a:prstDash val="solid"/>
                      <a:round/>
                      <a:headEnd type="none" w="med" len="med"/>
                      <a:tailEnd type="none" w="med" len="med"/>
                    </a:lnT>
                    <a:lnB w="12700" cap="flat" cmpd="sng" algn="ctr">
                      <a:solidFill>
                        <a:srgbClr val="C2C0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71C"/>
                          </a:solidFill>
                          <a:latin typeface="IBM Plex Sans" pitchFamily="34" charset="0"/>
                          <a:ea typeface="IBM Plex Sans" pitchFamily="34" charset="-122"/>
                          <a:cs typeface="IBM Plex Sans" pitchFamily="34" charset="-120"/>
                        </a:rPr>
                        <a:t>T3</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9BEC6"/>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B9BEC6"/>
                      </a:solidFill>
                      <a:prstDash val="solid"/>
                      <a:round/>
                      <a:headEnd type="none" w="med" len="med"/>
                      <a:tailEnd type="none" w="med" len="med"/>
                    </a:lnB>
                    <a:solidFill>
                      <a:srgbClr val="E8EEF8"/>
                    </a:solidFill>
                  </a:tcPr>
                </a:tc>
                <a:tc>
                  <a:txBody>
                    <a:bodyPr/>
                    <a:lstStyle/>
                    <a:p>
                      <a:pPr indent="0" marL="0">
                        <a:lnSpc>
                          <a:spcPts val="1960"/>
                        </a:lnSpc>
                        <a:buNone/>
                      </a:pPr>
                      <a:r>
                        <a:rPr lang="en-US" sz="1400" dirty="0">
                          <a:solidFill>
                            <a:srgbClr val="14171C"/>
                          </a:solidFill>
                          <a:latin typeface="IBM Plex Sans" pitchFamily="34" charset="0"/>
                          <a:ea typeface="IBM Plex Sans" pitchFamily="34" charset="-122"/>
                          <a:cs typeface="IBM Plex Sans" pitchFamily="34" charset="-120"/>
                        </a:rPr>
                        <a:t>You, as owner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EC6"/>
                      </a:solidFill>
                      <a:prstDash val="solid"/>
                      <a:round/>
                      <a:headEnd type="none" w="med" len="med"/>
                      <a:tailEnd type="none" w="med" len="med"/>
                    </a:lnL>
                    <a:lnR w="12700" cap="flat" cmpd="sng" algn="ctr">
                      <a:solidFill>
                        <a:srgbClr val="B9BEC6"/>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B9BEC6"/>
                      </a:solidFill>
                      <a:prstDash val="solid"/>
                      <a:round/>
                      <a:headEnd type="none" w="med" len="med"/>
                      <a:tailEnd type="none" w="med" len="med"/>
                    </a:lnB>
                    <a:solidFill>
                      <a:srgbClr val="E8EEF8"/>
                    </a:solidFill>
                  </a:tcPr>
                </a:tc>
                <a:tc>
                  <a:txBody>
                    <a:bodyPr/>
                    <a:lstStyle/>
                    <a:p>
                      <a:pPr indent="0" marL="0">
                        <a:lnSpc>
                          <a:spcPts val="1960"/>
                        </a:lnSpc>
                        <a:buNone/>
                      </a:pPr>
                      <a:r>
                        <a:rPr lang="en-US" sz="1400" dirty="0">
                          <a:solidFill>
                            <a:srgbClr val="14171C"/>
                          </a:solidFill>
                          <a:latin typeface="IBM Plex Sans" pitchFamily="34" charset="0"/>
                          <a:ea typeface="IBM Plex Sans" pitchFamily="34" charset="-122"/>
                          <a:cs typeface="IBM Plex Sans" pitchFamily="34" charset="-120"/>
                        </a:rPr>
                        <a:t>Change the mandate itself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EC6"/>
                      </a:solidFill>
                      <a:prstDash val="solid"/>
                      <a:round/>
                      <a:headEnd type="none" w="med" len="med"/>
                      <a:tailEnd type="none" w="med" len="med"/>
                    </a:lnL>
                    <a:lnR w="12700" cap="flat" cmpd="sng" algn="ctr">
                      <a:solidFill>
                        <a:srgbClr val="B9BEC6"/>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B9BEC6"/>
                      </a:solidFill>
                      <a:prstDash val="solid"/>
                      <a:round/>
                      <a:headEnd type="none" w="med" len="med"/>
                      <a:tailEnd type="none" w="med" len="med"/>
                    </a:lnB>
                    <a:solidFill>
                      <a:srgbClr val="E8EEF8"/>
                    </a:solidFill>
                  </a:tcPr>
                </a:tc>
              </a:tr>
              <a:tr h="385961">
                <a:tc>
                  <a:txBody>
                    <a:bodyPr/>
                    <a:lstStyle/>
                    <a:p>
                      <a:pPr indent="0" marL="0">
                        <a:lnSpc>
                          <a:spcPts val="1960"/>
                        </a:lnSpc>
                        <a:buNone/>
                      </a:pPr>
                      <a:r>
                        <a:rPr lang="en-US" sz="1400" dirty="0">
                          <a:solidFill>
                            <a:srgbClr val="14171C"/>
                          </a:solidFill>
                          <a:latin typeface="IBM Plex Sans" pitchFamily="34" charset="0"/>
                          <a:ea typeface="IBM Plex Sans" pitchFamily="34" charset="-122"/>
                          <a:cs typeface="IBM Plex Sans" pitchFamily="34" charset="-120"/>
                        </a:rPr>
                        <a:t>T4</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4BCA6"/>
                      </a:solidFill>
                      <a:prstDash val="solid"/>
                      <a:round/>
                      <a:headEnd type="none" w="med" len="med"/>
                      <a:tailEnd type="none" w="med" len="med"/>
                    </a:lnR>
                    <a:lnT w="12700" cap="flat" cmpd="sng" algn="ctr">
                      <a:solidFill>
                        <a:srgbClr val="B9BEC6"/>
                      </a:solidFill>
                      <a:prstDash val="solid"/>
                      <a:round/>
                      <a:headEnd type="none" w="med" len="med"/>
                      <a:tailEnd type="none" w="med" len="med"/>
                    </a:lnT>
                    <a:lnB w="12700" cap="flat" cmpd="sng" algn="ctr">
                      <a:solidFill>
                        <a:srgbClr val="C4BCA6"/>
                      </a:solidFill>
                      <a:prstDash val="solid"/>
                      <a:round/>
                      <a:headEnd type="none" w="med" len="med"/>
                      <a:tailEnd type="none" w="med" len="med"/>
                    </a:lnB>
                    <a:solidFill>
                      <a:srgbClr val="F5EBD0"/>
                    </a:solidFill>
                  </a:tcPr>
                </a:tc>
                <a:tc>
                  <a:txBody>
                    <a:bodyPr/>
                    <a:lstStyle/>
                    <a:p>
                      <a:pPr indent="0" marL="0">
                        <a:lnSpc>
                          <a:spcPts val="1960"/>
                        </a:lnSpc>
                        <a:buNone/>
                      </a:pPr>
                      <a:r>
                        <a:rPr lang="en-US" sz="1400" dirty="0">
                          <a:solidFill>
                            <a:srgbClr val="14171C"/>
                          </a:solidFill>
                          <a:latin typeface="IBM Plex Sans" pitchFamily="34" charset="0"/>
                          <a:ea typeface="IBM Plex Sans" pitchFamily="34" charset="-122"/>
                          <a:cs typeface="IBM Plex Sans" pitchFamily="34" charset="-120"/>
                        </a:rPr>
                        <a:t>Consortium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CA6"/>
                      </a:solidFill>
                      <a:prstDash val="solid"/>
                      <a:round/>
                      <a:headEnd type="none" w="med" len="med"/>
                      <a:tailEnd type="none" w="med" len="med"/>
                    </a:lnL>
                    <a:lnR w="12700" cap="flat" cmpd="sng" algn="ctr">
                      <a:solidFill>
                        <a:srgbClr val="C4BCA6"/>
                      </a:solidFill>
                      <a:prstDash val="solid"/>
                      <a:round/>
                      <a:headEnd type="none" w="med" len="med"/>
                      <a:tailEnd type="none" w="med" len="med"/>
                    </a:lnR>
                    <a:lnT w="12700" cap="flat" cmpd="sng" algn="ctr">
                      <a:solidFill>
                        <a:srgbClr val="B9BEC6"/>
                      </a:solidFill>
                      <a:prstDash val="solid"/>
                      <a:round/>
                      <a:headEnd type="none" w="med" len="med"/>
                      <a:tailEnd type="none" w="med" len="med"/>
                    </a:lnT>
                    <a:lnB w="12700" cap="flat" cmpd="sng" algn="ctr">
                      <a:solidFill>
                        <a:srgbClr val="C4BCA6"/>
                      </a:solidFill>
                      <a:prstDash val="solid"/>
                      <a:round/>
                      <a:headEnd type="none" w="med" len="med"/>
                      <a:tailEnd type="none" w="med" len="med"/>
                    </a:lnB>
                    <a:solidFill>
                      <a:srgbClr val="F5EBD0"/>
                    </a:solidFill>
                  </a:tcPr>
                </a:tc>
                <a:tc>
                  <a:txBody>
                    <a:bodyPr/>
                    <a:lstStyle/>
                    <a:p>
                      <a:pPr indent="0" marL="0">
                        <a:lnSpc>
                          <a:spcPts val="1960"/>
                        </a:lnSpc>
                        <a:buNone/>
                      </a:pPr>
                      <a:r>
                        <a:rPr lang="en-US" sz="1400" dirty="0">
                          <a:solidFill>
                            <a:srgbClr val="14171C"/>
                          </a:solidFill>
                          <a:latin typeface="IBM Plex Sans" pitchFamily="34" charset="0"/>
                          <a:ea typeface="IBM Plex Sans" pitchFamily="34" charset="-122"/>
                          <a:cs typeface="IBM Plex Sans" pitchFamily="34" charset="-120"/>
                        </a:rPr>
                        <a:t>Freeze: 1 of 3 · loosen limits: 2 of 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CA6"/>
                      </a:solidFill>
                      <a:prstDash val="solid"/>
                      <a:round/>
                      <a:headEnd type="none" w="med" len="med"/>
                      <a:tailEnd type="none" w="med" len="med"/>
                    </a:lnL>
                    <a:lnR w="12700" cap="flat" cmpd="sng" algn="ctr">
                      <a:solidFill>
                        <a:srgbClr val="C4BCA6"/>
                      </a:solidFill>
                      <a:prstDash val="solid"/>
                      <a:round/>
                      <a:headEnd type="none" w="med" len="med"/>
                      <a:tailEnd type="none" w="med" len="med"/>
                    </a:lnR>
                    <a:lnT w="12700" cap="flat" cmpd="sng" algn="ctr">
                      <a:solidFill>
                        <a:srgbClr val="B9BEC6"/>
                      </a:solidFill>
                      <a:prstDash val="solid"/>
                      <a:round/>
                      <a:headEnd type="none" w="med" len="med"/>
                      <a:tailEnd type="none" w="med" len="med"/>
                    </a:lnT>
                    <a:lnB w="12700" cap="flat" cmpd="sng" algn="ctr">
                      <a:solidFill>
                        <a:srgbClr val="C4BCA6"/>
                      </a:solidFill>
                      <a:prstDash val="solid"/>
                      <a:round/>
                      <a:headEnd type="none" w="med" len="med"/>
                      <a:tailEnd type="none" w="med" len="med"/>
                    </a:lnB>
                    <a:solidFill>
                      <a:srgbClr val="F5EBD0"/>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4"/>
        </a:solidFill>
      </p:bgPr>
    </p:bg>
    <p:spTree>
      <p:nvGrpSpPr>
        <p:cNvPr id="1" name=""/>
        <p:cNvGrpSpPr/>
        <p:nvPr/>
      </p:nvGrpSpPr>
      <p:grpSpPr>
        <a:xfrm>
          <a:off x="0" y="0"/>
          <a:ext cx="0" cy="0"/>
          <a:chOff x="0" y="0"/>
          <a:chExt cx="0" cy="0"/>
        </a:xfrm>
      </p:grpSpPr>
      <p:sp>
        <p:nvSpPr>
          <p:cNvPr id="2" name="Text 0"/>
          <p:cNvSpPr/>
          <p:nvPr/>
        </p:nvSpPr>
        <p:spPr>
          <a:xfrm>
            <a:off x="812800" y="2281039"/>
            <a:ext cx="518007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B84B"/>
                </a:solidFill>
                <a:latin typeface="IBM Plex Sans" pitchFamily="34" charset="0"/>
                <a:ea typeface="IBM Plex Sans" pitchFamily="34" charset="-122"/>
                <a:cs typeface="IBM Plex Sans" pitchFamily="34" charset="-120"/>
              </a:rPr>
              <a:t>SECURITY · THE MANDATE HOOK</a:t>
            </a:r>
            <a:endParaRPr lang="en-US" sz="1200" dirty="0"/>
          </a:p>
        </p:txBody>
      </p:sp>
      <p:sp>
        <p:nvSpPr>
          <p:cNvPr id="3" name="Text 1"/>
          <p:cNvSpPr/>
          <p:nvPr>
            <p:ph type="title"/>
          </p:nvPr>
        </p:nvSpPr>
        <p:spPr>
          <a:xfrm>
            <a:off x="812800" y="2748359"/>
            <a:ext cx="5180076"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0EA"/>
                </a:solidFill>
                <a:latin typeface="Space Grotesk" pitchFamily="34" charset="0"/>
                <a:ea typeface="Space Grotesk" pitchFamily="34" charset="-122"/>
                <a:cs typeface="Space Grotesk" pitchFamily="34" charset="-120"/>
              </a:rPr>
              <a:t>A hacked agent still can’t break the rules.</a:t>
            </a:r>
            <a:endParaRPr lang="en-US" sz="3600" dirty="0"/>
          </a:p>
        </p:txBody>
      </p:sp>
      <p:sp>
        <p:nvSpPr>
          <p:cNvPr id="4" name="Text 2"/>
          <p:cNvSpPr/>
          <p:nvPr/>
        </p:nvSpPr>
        <p:spPr>
          <a:xfrm>
            <a:off x="812800" y="4008041"/>
            <a:ext cx="518007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B0BA"/>
                </a:solidFill>
                <a:latin typeface="IBM Plex Sans" pitchFamily="34" charset="0"/>
                <a:ea typeface="IBM Plex Sans" pitchFamily="34" charset="-122"/>
                <a:cs typeface="IBM Plex Sans" pitchFamily="34" charset="-120"/>
              </a:rPr>
              <a:t>The limits are checked by the wallet contract before any money moves, not by the agent or our server.</a:t>
            </a:r>
            <a:endParaRPr lang="en-US" sz="1600" dirty="0"/>
          </a:p>
        </p:txBody>
      </p:sp>
      <p:sp>
        <p:nvSpPr>
          <p:cNvPr id="5" name="Shape 3"/>
          <p:cNvSpPr/>
          <p:nvPr/>
        </p:nvSpPr>
        <p:spPr>
          <a:xfrm>
            <a:off x="6353175" y="1659334"/>
            <a:ext cx="5022850" cy="717550"/>
          </a:xfrm>
          <a:prstGeom prst="roundRect">
            <a:avLst>
              <a:gd name="adj" fmla="val 17257"/>
            </a:avLst>
          </a:prstGeom>
          <a:solidFill>
            <a:srgbClr val="181B20"/>
          </a:solidFill>
          <a:ln w="6350">
            <a:solidFill>
              <a:srgbClr val="2A2E35"/>
            </a:solidFill>
            <a:prstDash val="solid"/>
          </a:ln>
        </p:spPr>
      </p:sp>
      <p:pic>
        <p:nvPicPr>
          <p:cNvPr id="6" name="Image 0" descr="CheckCircle">    </p:cNvPr>
          <p:cNvPicPr>
            <a:picLocks noChangeAspect="1"/>
          </p:cNvPicPr>
          <p:nvPr/>
        </p:nvPicPr>
        <p:blipFill>
          <a:blip r:embed="rId1"/>
          <a:srcRect l="0" r="0" t="0" b="0"/>
          <a:stretch/>
        </p:blipFill>
        <p:spPr>
          <a:xfrm>
            <a:off x="6559550" y="1865709"/>
            <a:ext cx="304800" cy="304800"/>
          </a:xfrm>
          <a:prstGeom prst="rect">
            <a:avLst/>
          </a:prstGeom>
        </p:spPr>
      </p:pic>
      <p:sp>
        <p:nvSpPr>
          <p:cNvPr id="7" name="Text 4"/>
          <p:cNvSpPr/>
          <p:nvPr/>
        </p:nvSpPr>
        <p:spPr>
          <a:xfrm>
            <a:off x="7016750" y="1893689"/>
            <a:ext cx="43561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0EA"/>
                </a:solidFill>
                <a:latin typeface="IBM Plex Sans" pitchFamily="34" charset="0"/>
                <a:ea typeface="IBM Plex Sans" pitchFamily="34" charset="-122"/>
                <a:cs typeface="IBM Plex Sans" pitchFamily="34" charset="-120"/>
              </a:rPr>
              <a:t>Every call passes an ERC-7579 hook on the account</a:t>
            </a:r>
            <a:endParaRPr lang="en-US" sz="1400" dirty="0"/>
          </a:p>
        </p:txBody>
      </p:sp>
      <p:sp>
        <p:nvSpPr>
          <p:cNvPr id="8" name="Shape 5"/>
          <p:cNvSpPr/>
          <p:nvPr/>
        </p:nvSpPr>
        <p:spPr>
          <a:xfrm>
            <a:off x="6353175" y="2535634"/>
            <a:ext cx="5022850" cy="910431"/>
          </a:xfrm>
          <a:prstGeom prst="roundRect">
            <a:avLst>
              <a:gd name="adj" fmla="val 13601"/>
            </a:avLst>
          </a:prstGeom>
          <a:solidFill>
            <a:srgbClr val="181B20"/>
          </a:solidFill>
          <a:ln w="6350">
            <a:solidFill>
              <a:srgbClr val="2A2E35"/>
            </a:solidFill>
            <a:prstDash val="solid"/>
          </a:ln>
        </p:spPr>
      </p:sp>
      <p:pic>
        <p:nvPicPr>
          <p:cNvPr id="9" name="Image 1" descr="Key">    </p:cNvPr>
          <p:cNvPicPr>
            <a:picLocks noChangeAspect="1"/>
          </p:cNvPicPr>
          <p:nvPr/>
        </p:nvPicPr>
        <p:blipFill>
          <a:blip r:embed="rId2"/>
          <a:srcRect l="0" r="0" t="-532" b="-532"/>
          <a:stretch/>
        </p:blipFill>
        <p:spPr>
          <a:xfrm>
            <a:off x="6559550" y="2838450"/>
            <a:ext cx="289024" cy="304800"/>
          </a:xfrm>
          <a:prstGeom prst="rect">
            <a:avLst/>
          </a:prstGeom>
        </p:spPr>
      </p:pic>
      <p:sp>
        <p:nvSpPr>
          <p:cNvPr id="10" name="Text 6"/>
          <p:cNvSpPr/>
          <p:nvPr/>
        </p:nvSpPr>
        <p:spPr>
          <a:xfrm>
            <a:off x="7000974" y="2742009"/>
            <a:ext cx="429373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0EA"/>
                </a:solidFill>
                <a:latin typeface="IBM Plex Sans" pitchFamily="34" charset="0"/>
                <a:ea typeface="IBM Plex Sans" pitchFamily="34" charset="-122"/>
                <a:cs typeface="IBM Plex Sans" pitchFamily="34" charset="-120"/>
              </a:rPr>
              <a:t>Face ID approvals verified on-chain (P-256, WebAuthn)</a:t>
            </a:r>
            <a:endParaRPr lang="en-US" sz="1400" dirty="0"/>
          </a:p>
        </p:txBody>
      </p:sp>
      <p:sp>
        <p:nvSpPr>
          <p:cNvPr id="11" name="Shape 7"/>
          <p:cNvSpPr/>
          <p:nvPr/>
        </p:nvSpPr>
        <p:spPr>
          <a:xfrm>
            <a:off x="6353175" y="3604816"/>
            <a:ext cx="5022850" cy="717550"/>
          </a:xfrm>
          <a:prstGeom prst="roundRect">
            <a:avLst>
              <a:gd name="adj" fmla="val 17257"/>
            </a:avLst>
          </a:prstGeom>
          <a:solidFill>
            <a:srgbClr val="181B20"/>
          </a:solidFill>
          <a:ln w="6350">
            <a:solidFill>
              <a:srgbClr val="2A2E35"/>
            </a:solidFill>
            <a:prstDash val="solid"/>
          </a:ln>
        </p:spPr>
      </p:sp>
      <p:pic>
        <p:nvPicPr>
          <p:cNvPr id="12" name="Image 2" descr="Book">    </p:cNvPr>
          <p:cNvPicPr>
            <a:picLocks noChangeAspect="1"/>
          </p:cNvPicPr>
          <p:nvPr/>
        </p:nvPicPr>
        <p:blipFill>
          <a:blip r:embed="rId3"/>
          <a:srcRect l="0" r="0" t="0" b="0"/>
          <a:stretch/>
        </p:blipFill>
        <p:spPr>
          <a:xfrm>
            <a:off x="6559550" y="3811191"/>
            <a:ext cx="304800" cy="304800"/>
          </a:xfrm>
          <a:prstGeom prst="rect">
            <a:avLst/>
          </a:prstGeom>
        </p:spPr>
      </p:pic>
      <p:sp>
        <p:nvSpPr>
          <p:cNvPr id="13" name="Text 8"/>
          <p:cNvSpPr/>
          <p:nvPr/>
        </p:nvSpPr>
        <p:spPr>
          <a:xfrm>
            <a:off x="7016750" y="3839170"/>
            <a:ext cx="43561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0EA"/>
                </a:solidFill>
                <a:latin typeface="IBM Plex Sans" pitchFamily="34" charset="0"/>
                <a:ea typeface="IBM Plex Sans" pitchFamily="34" charset="-122"/>
                <a:cs typeface="IBM Plex Sans" pitchFamily="34" charset="-120"/>
              </a:rPr>
              <a:t>Every refusal is written on-chain, with its reason</a:t>
            </a:r>
            <a:endParaRPr lang="en-US" sz="1400" dirty="0"/>
          </a:p>
        </p:txBody>
      </p:sp>
      <p:sp>
        <p:nvSpPr>
          <p:cNvPr id="14" name="Shape 9"/>
          <p:cNvSpPr/>
          <p:nvPr/>
        </p:nvSpPr>
        <p:spPr>
          <a:xfrm>
            <a:off x="6353175" y="4481116"/>
            <a:ext cx="5022850" cy="717550"/>
          </a:xfrm>
          <a:prstGeom prst="roundRect">
            <a:avLst>
              <a:gd name="adj" fmla="val 17257"/>
            </a:avLst>
          </a:prstGeom>
          <a:solidFill>
            <a:srgbClr val="181B20"/>
          </a:solidFill>
          <a:ln w="6350">
            <a:solidFill>
              <a:srgbClr val="2A2E35"/>
            </a:solidFill>
            <a:prstDash val="solid"/>
          </a:ln>
        </p:spPr>
      </p:sp>
      <p:pic>
        <p:nvPicPr>
          <p:cNvPr id="15" name="Image 3" descr="Lightning">    </p:cNvPr>
          <p:cNvPicPr>
            <a:picLocks noChangeAspect="1"/>
          </p:cNvPicPr>
          <p:nvPr/>
        </p:nvPicPr>
        <p:blipFill>
          <a:blip r:embed="rId4"/>
          <a:srcRect l="0" r="0" t="0" b="0"/>
          <a:stretch/>
        </p:blipFill>
        <p:spPr>
          <a:xfrm>
            <a:off x="6559550" y="4687491"/>
            <a:ext cx="304800" cy="304800"/>
          </a:xfrm>
          <a:prstGeom prst="rect">
            <a:avLst/>
          </a:prstGeom>
        </p:spPr>
      </p:pic>
      <p:sp>
        <p:nvSpPr>
          <p:cNvPr id="16" name="Text 10"/>
          <p:cNvSpPr/>
          <p:nvPr/>
        </p:nvSpPr>
        <p:spPr>
          <a:xfrm>
            <a:off x="7016750" y="4715470"/>
            <a:ext cx="43561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0EA"/>
                </a:solidFill>
                <a:latin typeface="IBM Plex Sans" pitchFamily="34" charset="0"/>
                <a:ea typeface="IBM Plex Sans" pitchFamily="34" charset="-122"/>
                <a:cs typeface="IBM Plex Sans" pitchFamily="34" charset="-120"/>
              </a:rPr>
              <a:t>Consortium decisions arrive as signed attestations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0B84B"/>
        </a:solidFill>
      </p:bgPr>
    </p:bg>
    <p:spTree>
      <p:nvGrpSpPr>
        <p:cNvPr id="1" name=""/>
        <p:cNvGrpSpPr/>
        <p:nvPr/>
      </p:nvGrpSpPr>
      <p:grpSpPr>
        <a:xfrm>
          <a:off x="0" y="0"/>
          <a:ext cx="0" cy="0"/>
          <a:chOff x="0" y="0"/>
          <a:chExt cx="0" cy="0"/>
        </a:xfrm>
      </p:grpSpPr>
      <p:sp>
        <p:nvSpPr>
          <p:cNvPr id="2" name="Text 0"/>
          <p:cNvSpPr/>
          <p:nvPr/>
        </p:nvSpPr>
        <p:spPr>
          <a:xfrm>
            <a:off x="812800" y="17399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D2F08"/>
                </a:solidFill>
                <a:latin typeface="IBM Plex Sans" pitchFamily="34" charset="0"/>
                <a:ea typeface="IBM Plex Sans" pitchFamily="34" charset="-122"/>
                <a:cs typeface="IBM Plex Sans" pitchFamily="34" charset="-120"/>
              </a:rPr>
              <a:t>COMPLIANCE · THE CONSORTIUM</a:t>
            </a:r>
            <a:endParaRPr lang="en-US" sz="1200" dirty="0"/>
          </a:p>
        </p:txBody>
      </p:sp>
      <p:sp>
        <p:nvSpPr>
          <p:cNvPr id="3" name="Text 1"/>
          <p:cNvSpPr/>
          <p:nvPr>
            <p:ph type="title"/>
          </p:nvPr>
        </p:nvSpPr>
        <p:spPr>
          <a:xfrm>
            <a:off x="812800" y="2308820"/>
            <a:ext cx="1046480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4171C"/>
                </a:solidFill>
                <a:latin typeface="Space Grotesk" pitchFamily="34" charset="0"/>
                <a:ea typeface="Space Grotesk" pitchFamily="34" charset="-122"/>
                <a:cs typeface="Space Grotesk" pitchFamily="34" charset="-120"/>
              </a:rPr>
              <a:t>One signature stops it. Two of three let it go further.</a:t>
            </a:r>
            <a:endParaRPr lang="en-US" sz="6000" dirty="0"/>
          </a:p>
        </p:txBody>
      </p:sp>
      <p:sp>
        <p:nvSpPr>
          <p:cNvPr id="4" name="Text 2"/>
          <p:cNvSpPr/>
          <p:nvPr/>
        </p:nvSpPr>
        <p:spPr>
          <a:xfrm>
            <a:off x="812800" y="4264620"/>
            <a:ext cx="915670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2F08"/>
                </a:solidFill>
                <a:latin typeface="IBM Plex Sans" pitchFamily="34" charset="0"/>
                <a:ea typeface="IBM Plex Sans" pitchFamily="34" charset="-122"/>
                <a:cs typeface="IBM Plex Sans" pitchFamily="34" charset="-120"/>
              </a:rPr>
              <a:t>Bank, regulator and operator each run a FISCO BCOS node. Freezing is easy on purpose; loosening needs a quorum. Decisions reach the wallet on Base, signed, over WeCross: measured 6.3 s to freeze, 7.5 s to loosen.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11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B84B"/>
                </a:solidFill>
                <a:latin typeface="IBM Plex Sans" pitchFamily="34" charset="0"/>
                <a:ea typeface="IBM Plex Sans" pitchFamily="34" charset="-122"/>
                <a:cs typeface="IBM Plex Sans" pitchFamily="34" charset="-120"/>
              </a:rPr>
              <a:t>COMPLIANCE · IDENTITY AND AUDIT</a:t>
            </a:r>
            <a:endParaRPr lang="en-US" sz="1200" dirty="0"/>
          </a:p>
        </p:txBody>
      </p:sp>
      <p:sp>
        <p:nvSpPr>
          <p:cNvPr id="3" name="Text 1"/>
          <p:cNvSpPr/>
          <p:nvPr>
            <p:ph type="title"/>
          </p:nvPr>
        </p:nvSpPr>
        <p:spPr>
          <a:xfrm>
            <a:off x="812800" y="1381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0EA"/>
                </a:solidFill>
                <a:latin typeface="Space Grotesk" pitchFamily="34" charset="0"/>
                <a:ea typeface="Space Grotesk" pitchFamily="34" charset="-122"/>
                <a:cs typeface="Space Grotesk" pitchFamily="34" charset="-120"/>
              </a:rPr>
              <a:t>Know your customer, and know your agent</a:t>
            </a:r>
            <a:endParaRPr lang="en-US" sz="3600" dirty="0"/>
          </a:p>
        </p:txBody>
      </p:sp>
      <p:sp>
        <p:nvSpPr>
          <p:cNvPr id="4" name="Shape 2"/>
          <p:cNvSpPr/>
          <p:nvPr/>
        </p:nvSpPr>
        <p:spPr>
          <a:xfrm>
            <a:off x="815975" y="2243336"/>
            <a:ext cx="5149850" cy="2414191"/>
          </a:xfrm>
          <a:prstGeom prst="roundRect">
            <a:avLst>
              <a:gd name="adj" fmla="val 6181"/>
            </a:avLst>
          </a:prstGeom>
          <a:solidFill>
            <a:srgbClr val="181B20"/>
          </a:solidFill>
          <a:ln w="6350">
            <a:solidFill>
              <a:srgbClr val="2A2E35"/>
            </a:solidFill>
            <a:prstDash val="solid"/>
          </a:ln>
        </p:spPr>
      </p:sp>
      <p:pic>
        <p:nvPicPr>
          <p:cNvPr id="5" name="Image 0" descr="Verified">    </p:cNvPr>
          <p:cNvPicPr>
            <a:picLocks noChangeAspect="1"/>
          </p:cNvPicPr>
          <p:nvPr/>
        </p:nvPicPr>
        <p:blipFill>
          <a:blip r:embed="rId1"/>
          <a:srcRect l="0" r="0" t="0" b="0"/>
          <a:stretch/>
        </p:blipFill>
        <p:spPr>
          <a:xfrm>
            <a:off x="1123950" y="2551311"/>
            <a:ext cx="355600" cy="355600"/>
          </a:xfrm>
          <a:prstGeom prst="rect">
            <a:avLst/>
          </a:prstGeom>
        </p:spPr>
      </p:pic>
      <p:sp>
        <p:nvSpPr>
          <p:cNvPr id="6" name="Text 3"/>
          <p:cNvSpPr/>
          <p:nvPr/>
        </p:nvSpPr>
        <p:spPr>
          <a:xfrm>
            <a:off x="1123950" y="3033911"/>
            <a:ext cx="466991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F0EA"/>
                </a:solidFill>
                <a:latin typeface="Space Grotesk" pitchFamily="34" charset="0"/>
                <a:ea typeface="Space Grotesk" pitchFamily="34" charset="-122"/>
                <a:cs typeface="Space Grotesk" pitchFamily="34" charset="-120"/>
              </a:rPr>
              <a:t>KYC + KYA on WeIdentity</a:t>
            </a:r>
            <a:endParaRPr lang="en-US" sz="2200" dirty="0"/>
          </a:p>
        </p:txBody>
      </p:sp>
      <p:sp>
        <p:nvSpPr>
          <p:cNvPr id="7" name="Text 4"/>
          <p:cNvSpPr/>
          <p:nvPr/>
        </p:nvSpPr>
        <p:spPr>
          <a:xfrm>
            <a:off x="1123950" y="3496171"/>
            <a:ext cx="4669917"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B0BA"/>
                </a:solidFill>
                <a:latin typeface="IBM Plex Sans" pitchFamily="34" charset="0"/>
                <a:ea typeface="IBM Plex Sans" pitchFamily="34" charset="-122"/>
                <a:cs typeface="IBM Plex Sans" pitchFamily="34" charset="-120"/>
              </a:rPr>
              <a:t>The user, the agent and each staff member get a decentralised ID. KYC and the agent’s mandate (“know your agent”) are verifiable credentials.</a:t>
            </a:r>
            <a:endParaRPr lang="en-US" sz="1600" dirty="0"/>
          </a:p>
        </p:txBody>
      </p:sp>
      <p:sp>
        <p:nvSpPr>
          <p:cNvPr id="8" name="Shape 5"/>
          <p:cNvSpPr/>
          <p:nvPr/>
        </p:nvSpPr>
        <p:spPr>
          <a:xfrm>
            <a:off x="6226175" y="2243336"/>
            <a:ext cx="5149850" cy="2414191"/>
          </a:xfrm>
          <a:prstGeom prst="roundRect">
            <a:avLst>
              <a:gd name="adj" fmla="val 6181"/>
            </a:avLst>
          </a:prstGeom>
          <a:solidFill>
            <a:srgbClr val="181B20"/>
          </a:solidFill>
          <a:ln w="6350">
            <a:solidFill>
              <a:srgbClr val="2A2E35"/>
            </a:solidFill>
            <a:prstDash val="solid"/>
          </a:ln>
        </p:spPr>
      </p:sp>
      <p:pic>
        <p:nvPicPr>
          <p:cNvPr id="9" name="Image 1" descr="Database">    </p:cNvPr>
          <p:cNvPicPr>
            <a:picLocks noChangeAspect="1"/>
          </p:cNvPicPr>
          <p:nvPr/>
        </p:nvPicPr>
        <p:blipFill>
          <a:blip r:embed="rId2"/>
          <a:srcRect l="0" r="0" t="0" b="0"/>
          <a:stretch/>
        </p:blipFill>
        <p:spPr>
          <a:xfrm>
            <a:off x="6534150" y="2551311"/>
            <a:ext cx="355600" cy="355600"/>
          </a:xfrm>
          <a:prstGeom prst="rect">
            <a:avLst/>
          </a:prstGeom>
        </p:spPr>
      </p:pic>
      <p:sp>
        <p:nvSpPr>
          <p:cNvPr id="10" name="Text 6"/>
          <p:cNvSpPr/>
          <p:nvPr/>
        </p:nvSpPr>
        <p:spPr>
          <a:xfrm>
            <a:off x="6534150" y="3033911"/>
            <a:ext cx="466991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F0EA"/>
                </a:solidFill>
                <a:latin typeface="Space Grotesk" pitchFamily="34" charset="0"/>
                <a:ea typeface="Space Grotesk" pitchFamily="34" charset="-122"/>
                <a:cs typeface="Space Grotesk" pitchFamily="34" charset="-120"/>
              </a:rPr>
              <a:t>Tamper-evident audit</a:t>
            </a:r>
            <a:endParaRPr lang="en-US" sz="2200" dirty="0"/>
          </a:p>
        </p:txBody>
      </p:sp>
      <p:sp>
        <p:nvSpPr>
          <p:cNvPr id="11" name="Text 7"/>
          <p:cNvSpPr/>
          <p:nvPr/>
        </p:nvSpPr>
        <p:spPr>
          <a:xfrm>
            <a:off x="6534150" y="3496171"/>
            <a:ext cx="4669917"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B0BA"/>
                </a:solidFill>
                <a:latin typeface="IBM Plex Sans" pitchFamily="34" charset="0"/>
                <a:ea typeface="IBM Plex Sans" pitchFamily="34" charset="-122"/>
                <a:cs typeface="IBM Plex Sans" pitchFamily="34" charset="-120"/>
              </a:rPr>
              <a:t>Every action joins a hash chain on FISCO, anchored on Base. Statements export as ISO 20022, the format banks already read.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4"/>
                </a:solidFill>
                <a:latin typeface="IBM Plex Sans" pitchFamily="34" charset="0"/>
                <a:ea typeface="IBM Plex Sans" pitchFamily="34" charset="-122"/>
                <a:cs typeface="IBM Plex Sans" pitchFamily="34" charset="-120"/>
              </a:rPr>
              <a:t>INTERACTION</a:t>
            </a:r>
            <a:endParaRPr lang="en-US" sz="1200" dirty="0"/>
          </a:p>
        </p:txBody>
      </p:sp>
      <p:sp>
        <p:nvSpPr>
          <p:cNvPr id="3" name="Text 1"/>
          <p:cNvSpPr/>
          <p:nvPr>
            <p:ph type="title"/>
          </p:nvPr>
        </p:nvSpPr>
        <p:spPr>
          <a:xfrm>
            <a:off x="812800" y="13817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71C"/>
                </a:solidFill>
                <a:latin typeface="Space Grotesk" pitchFamily="34" charset="0"/>
                <a:ea typeface="Space Grotesk" pitchFamily="34" charset="-122"/>
                <a:cs typeface="Space Grotesk" pitchFamily="34" charset="-120"/>
              </a:rPr>
              <a:t>Approve inside WeChat. One glance, one Face ID.</a:t>
            </a:r>
            <a:endParaRPr lang="en-US" sz="3600" dirty="0"/>
          </a:p>
        </p:txBody>
      </p:sp>
      <p:sp>
        <p:nvSpPr>
          <p:cNvPr id="4" name="Shape 2"/>
          <p:cNvSpPr/>
          <p:nvPr/>
        </p:nvSpPr>
        <p:spPr>
          <a:xfrm>
            <a:off x="815975" y="2746177"/>
            <a:ext cx="3350617" cy="3033911"/>
          </a:xfrm>
          <a:prstGeom prst="roundRect">
            <a:avLst>
              <a:gd name="adj" fmla="val 4919"/>
            </a:avLst>
          </a:prstGeom>
          <a:solidFill>
            <a:srgbClr val="FFFDF8"/>
          </a:solidFill>
          <a:ln w="6350">
            <a:solidFill>
              <a:srgbClr val="DDD8CC"/>
            </a:solidFill>
            <a:prstDash val="solid"/>
          </a:ln>
        </p:spPr>
      </p:sp>
      <p:pic>
        <p:nvPicPr>
          <p:cNvPr id="5" name="Image 0" descr="Users">    </p:cNvPr>
          <p:cNvPicPr>
            <a:picLocks noChangeAspect="1"/>
          </p:cNvPicPr>
          <p:nvPr/>
        </p:nvPicPr>
        <p:blipFill>
          <a:blip r:embed="rId1"/>
          <a:srcRect l="0" r="0" t="0" b="0"/>
          <a:stretch/>
        </p:blipFill>
        <p:spPr>
          <a:xfrm>
            <a:off x="1123950" y="3054152"/>
            <a:ext cx="355600" cy="355600"/>
          </a:xfrm>
          <a:prstGeom prst="rect">
            <a:avLst/>
          </a:prstGeom>
        </p:spPr>
      </p:pic>
      <p:sp>
        <p:nvSpPr>
          <p:cNvPr id="6" name="Text 3"/>
          <p:cNvSpPr/>
          <p:nvPr/>
        </p:nvSpPr>
        <p:spPr>
          <a:xfrm>
            <a:off x="1123950" y="3536752"/>
            <a:ext cx="2816707"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71C"/>
                </a:solidFill>
                <a:latin typeface="Space Grotesk" pitchFamily="34" charset="0"/>
                <a:ea typeface="Space Grotesk" pitchFamily="34" charset="-122"/>
                <a:cs typeface="Space Grotesk" pitchFamily="34" charset="-120"/>
              </a:rPr>
              <a:t>WeChat mini program</a:t>
            </a:r>
            <a:endParaRPr lang="en-US" sz="2200" dirty="0"/>
          </a:p>
        </p:txBody>
      </p:sp>
      <p:sp>
        <p:nvSpPr>
          <p:cNvPr id="7" name="Text 4"/>
          <p:cNvSpPr/>
          <p:nvPr/>
        </p:nvSpPr>
        <p:spPr>
          <a:xfrm>
            <a:off x="1123950" y="4334272"/>
            <a:ext cx="2816707"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IBM Plex Sans" pitchFamily="34" charset="0"/>
                <a:ea typeface="IBM Plex Sans" pitchFamily="34" charset="-122"/>
                <a:cs typeface="IBM Plex Sans" pitchFamily="34" charset="-120"/>
              </a:rPr>
              <a:t>Portfolio, chat with the agent, approvals with Tencent SOTER Face ID. Never leave WeChat.</a:t>
            </a:r>
            <a:endParaRPr lang="en-US" sz="1600" dirty="0"/>
          </a:p>
        </p:txBody>
      </p:sp>
      <p:sp>
        <p:nvSpPr>
          <p:cNvPr id="8" name="Shape 5"/>
          <p:cNvSpPr/>
          <p:nvPr/>
        </p:nvSpPr>
        <p:spPr>
          <a:xfrm>
            <a:off x="4426942" y="2746177"/>
            <a:ext cx="3350716" cy="3033911"/>
          </a:xfrm>
          <a:prstGeom prst="roundRect">
            <a:avLst>
              <a:gd name="adj" fmla="val 4919"/>
            </a:avLst>
          </a:prstGeom>
          <a:solidFill>
            <a:srgbClr val="FFFDF8"/>
          </a:solidFill>
          <a:ln w="6350">
            <a:solidFill>
              <a:srgbClr val="DDD8CC"/>
            </a:solidFill>
            <a:prstDash val="solid"/>
          </a:ln>
        </p:spPr>
      </p:sp>
      <p:pic>
        <p:nvPicPr>
          <p:cNvPr id="9" name="Image 1" descr="Key">    </p:cNvPr>
          <p:cNvPicPr>
            <a:picLocks noChangeAspect="1"/>
          </p:cNvPicPr>
          <p:nvPr/>
        </p:nvPicPr>
        <p:blipFill>
          <a:blip r:embed="rId2"/>
          <a:srcRect l="0" r="0" t="0" b="0"/>
          <a:stretch/>
        </p:blipFill>
        <p:spPr>
          <a:xfrm>
            <a:off x="4734917" y="3054152"/>
            <a:ext cx="355600" cy="355600"/>
          </a:xfrm>
          <a:prstGeom prst="rect">
            <a:avLst/>
          </a:prstGeom>
        </p:spPr>
      </p:pic>
      <p:sp>
        <p:nvSpPr>
          <p:cNvPr id="10" name="Text 6"/>
          <p:cNvSpPr/>
          <p:nvPr/>
        </p:nvSpPr>
        <p:spPr>
          <a:xfrm>
            <a:off x="4734917" y="3536752"/>
            <a:ext cx="281680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71C"/>
                </a:solidFill>
                <a:latin typeface="Space Grotesk" pitchFamily="34" charset="0"/>
                <a:ea typeface="Space Grotesk" pitchFamily="34" charset="-122"/>
                <a:cs typeface="Space Grotesk" pitchFamily="34" charset="-120"/>
              </a:rPr>
              <a:t>Or the web app</a:t>
            </a:r>
            <a:endParaRPr lang="en-US" sz="2200" dirty="0"/>
          </a:p>
        </p:txBody>
      </p:sp>
      <p:sp>
        <p:nvSpPr>
          <p:cNvPr id="11" name="Text 7"/>
          <p:cNvSpPr/>
          <p:nvPr/>
        </p:nvSpPr>
        <p:spPr>
          <a:xfrm>
            <a:off x="4734917" y="3999012"/>
            <a:ext cx="2816809"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IBM Plex Sans" pitchFamily="34" charset="0"/>
                <a:ea typeface="IBM Plex Sans" pitchFamily="34" charset="-122"/>
                <a:cs typeface="IBM Plex Sans" pitchFamily="34" charset="-120"/>
              </a:rPr>
              <a:t>The same request, approved with a passkey. Its signature is verified by the contract.</a:t>
            </a:r>
            <a:endParaRPr lang="en-US" sz="1600" dirty="0"/>
          </a:p>
        </p:txBody>
      </p:sp>
      <p:sp>
        <p:nvSpPr>
          <p:cNvPr id="12" name="Shape 8"/>
          <p:cNvSpPr/>
          <p:nvPr/>
        </p:nvSpPr>
        <p:spPr>
          <a:xfrm>
            <a:off x="8034834" y="2743002"/>
            <a:ext cx="3344366" cy="3040261"/>
          </a:xfrm>
          <a:prstGeom prst="roundRect">
            <a:avLst>
              <a:gd name="adj" fmla="val 5013"/>
            </a:avLst>
          </a:prstGeom>
          <a:solidFill>
            <a:srgbClr val="14171C"/>
          </a:solidFill>
          <a:ln/>
        </p:spPr>
      </p:sp>
      <p:pic>
        <p:nvPicPr>
          <p:cNvPr id="13" name="Image 2" descr="CheckCircle">    </p:cNvPr>
          <p:cNvPicPr>
            <a:picLocks noChangeAspect="1"/>
          </p:cNvPicPr>
          <p:nvPr/>
        </p:nvPicPr>
        <p:blipFill>
          <a:blip r:embed="rId3"/>
          <a:srcRect l="0" r="0" t="0" b="0"/>
          <a:stretch/>
        </p:blipFill>
        <p:spPr>
          <a:xfrm>
            <a:off x="8339634" y="3047802"/>
            <a:ext cx="355600" cy="355600"/>
          </a:xfrm>
          <a:prstGeom prst="rect">
            <a:avLst/>
          </a:prstGeom>
        </p:spPr>
      </p:pic>
      <p:sp>
        <p:nvSpPr>
          <p:cNvPr id="14" name="Text 9"/>
          <p:cNvSpPr/>
          <p:nvPr/>
        </p:nvSpPr>
        <p:spPr>
          <a:xfrm>
            <a:off x="8339634" y="3530402"/>
            <a:ext cx="2816809"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0B84B"/>
                </a:solidFill>
                <a:latin typeface="Space Grotesk" pitchFamily="34" charset="0"/>
                <a:ea typeface="Space Grotesk" pitchFamily="34" charset="-122"/>
                <a:cs typeface="Space Grotesk" pitchFamily="34" charset="-120"/>
              </a:rPr>
              <a:t>What you see is what you sign</a:t>
            </a:r>
            <a:endParaRPr lang="en-US" sz="2200" dirty="0"/>
          </a:p>
        </p:txBody>
      </p:sp>
      <p:sp>
        <p:nvSpPr>
          <p:cNvPr id="15" name="Text 10"/>
          <p:cNvSpPr/>
          <p:nvPr/>
        </p:nvSpPr>
        <p:spPr>
          <a:xfrm>
            <a:off x="8339634" y="4327922"/>
            <a:ext cx="2816809"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2CA"/>
                </a:solidFill>
                <a:latin typeface="IBM Plex Sans" pitchFamily="34" charset="0"/>
                <a:ea typeface="IBM Plex Sans" pitchFamily="34" charset="-122"/>
                <a:cs typeface="IBM Plex Sans" pitchFamily="34" charset="-120"/>
              </a:rPr>
              <a:t>Each screen recomputes the payment’s fingerprint itself. If it differs, it refuses to sign.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11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B84B"/>
                </a:solidFill>
                <a:latin typeface="IBM Plex Sans" pitchFamily="34" charset="0"/>
                <a:ea typeface="IBM Plex Sans" pitchFamily="34" charset="-122"/>
                <a:cs typeface="IBM Plex Sans" pitchFamily="34" charset="-120"/>
              </a:rPr>
              <a:t>THE PRODUCT</a:t>
            </a:r>
            <a:endParaRPr lang="en-US" sz="1200" dirty="0"/>
          </a:p>
        </p:txBody>
      </p:sp>
      <p:sp>
        <p:nvSpPr>
          <p:cNvPr id="3" name="Text 1"/>
          <p:cNvSpPr/>
          <p:nvPr>
            <p:ph type="title"/>
          </p:nvPr>
        </p:nvSpPr>
        <p:spPr>
          <a:xfrm>
            <a:off x="812800" y="13309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0EA"/>
                </a:solidFill>
                <a:latin typeface="Space Grotesk" pitchFamily="34" charset="0"/>
                <a:ea typeface="Space Grotesk" pitchFamily="34" charset="-122"/>
                <a:cs typeface="Space Grotesk" pitchFamily="34" charset="-120"/>
              </a:rPr>
              <a:t>One app for the user, one console for the consortium</a:t>
            </a:r>
            <a:endParaRPr lang="en-US" sz="3600" dirty="0"/>
          </a:p>
        </p:txBody>
      </p:sp>
      <p:sp>
        <p:nvSpPr>
          <p:cNvPr id="4" name="Shape 2"/>
          <p:cNvSpPr/>
          <p:nvPr/>
        </p:nvSpPr>
        <p:spPr>
          <a:xfrm>
            <a:off x="812800" y="2641402"/>
            <a:ext cx="5156200" cy="2743200"/>
          </a:xfrm>
          <a:prstGeom prst="roundRect">
            <a:avLst>
              <a:gd name="adj" fmla="val 3704"/>
            </a:avLst>
          </a:prstGeom>
          <a:solidFill>
            <a:srgbClr val="181B20"/>
          </a:solidFill>
          <a:ln/>
        </p:spPr>
      </p:sp>
      <p:pic>
        <p:nvPicPr>
          <p:cNvPr id="5" name="Image 0" descr="Praetor landing page: Self-driving money, the regulator holds the brakes, with a phone showing a $10,000 portfolio in USDC, tXAU and tXAG">    </p:cNvPr>
          <p:cNvPicPr>
            <a:picLocks noChangeAspect="1"/>
          </p:cNvPicPr>
          <p:nvPr/>
        </p:nvPicPr>
        <p:blipFill>
          <a:blip r:embed="rId1"/>
          <a:srcRect l="0" r="0" t="-37" b="-37"/>
          <a:stretch/>
        </p:blipFill>
        <p:spPr>
          <a:xfrm>
            <a:off x="819150" y="2647752"/>
            <a:ext cx="5143500" cy="2730500"/>
          </a:xfrm>
          <a:prstGeom prst="roundRect">
            <a:avLst>
              <a:gd name="adj" fmla="val 3488"/>
            </a:avLst>
          </a:prstGeom>
        </p:spPr>
      </p:pic>
      <p:sp>
        <p:nvSpPr>
          <p:cNvPr id="6" name="Shape 3"/>
          <p:cNvSpPr/>
          <p:nvPr/>
        </p:nvSpPr>
        <p:spPr>
          <a:xfrm>
            <a:off x="815975" y="2644577"/>
            <a:ext cx="5149850" cy="2736850"/>
          </a:xfrm>
          <a:prstGeom prst="roundRect">
            <a:avLst>
              <a:gd name="adj" fmla="val 3596"/>
            </a:avLst>
          </a:prstGeom>
          <a:noFill/>
          <a:ln w="6350">
            <a:solidFill>
              <a:srgbClr val="2A2E35"/>
            </a:solidFill>
            <a:prstDash val="solid"/>
          </a:ln>
        </p:spPr>
      </p:sp>
      <p:sp>
        <p:nvSpPr>
          <p:cNvPr id="7" name="Text 4"/>
          <p:cNvSpPr/>
          <p:nvPr/>
        </p:nvSpPr>
        <p:spPr>
          <a:xfrm>
            <a:off x="812800" y="5511602"/>
            <a:ext cx="53108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0BA"/>
                </a:solidFill>
                <a:latin typeface="IBM Plex Sans" pitchFamily="34" charset="0"/>
                <a:ea typeface="IBM Plex Sans" pitchFamily="34" charset="-122"/>
                <a:cs typeface="IBM Plex Sans" pitchFamily="34" charset="-120"/>
              </a:rPr>
              <a:t>User app: portfolio, approvals, mandate, payments, chat with the agent</a:t>
            </a:r>
            <a:endParaRPr lang="en-US" sz="1200" dirty="0"/>
          </a:p>
        </p:txBody>
      </p:sp>
      <p:sp>
        <p:nvSpPr>
          <p:cNvPr id="8" name="Shape 5"/>
          <p:cNvSpPr/>
          <p:nvPr/>
        </p:nvSpPr>
        <p:spPr>
          <a:xfrm>
            <a:off x="6223000" y="2641402"/>
            <a:ext cx="5156200" cy="2743200"/>
          </a:xfrm>
          <a:prstGeom prst="roundRect">
            <a:avLst>
              <a:gd name="adj" fmla="val 3704"/>
            </a:avLst>
          </a:prstGeom>
          <a:solidFill>
            <a:srgbClr val="181B20"/>
          </a:solidFill>
          <a:ln/>
        </p:spPr>
      </p:sp>
      <p:pic>
        <p:nvPicPr>
          <p:cNvPr id="9" name="Image 1" descr="Consortium console with bank, regulator and operator sign-in panels over a list of active agent accounts">    </p:cNvPr>
          <p:cNvPicPr>
            <a:picLocks noChangeAspect="1"/>
          </p:cNvPicPr>
          <p:nvPr/>
        </p:nvPicPr>
        <p:blipFill>
          <a:blip r:embed="rId2"/>
          <a:stretch>
            <a:fillRect/>
          </a:stretch>
        </p:blipFill>
        <p:spPr>
          <a:xfrm>
            <a:off x="6279426" y="2647752"/>
            <a:ext cx="5043348" cy="2730500"/>
          </a:xfrm>
          <a:custGeom>
            <a:avLst/>
            <a:gdLst/>
            <a:ahLst/>
            <a:cxnLst/>
            <a:rect l="l" t="t" r="r" b="b"/>
            <a:pathLst>
              <a:path w="5043348" h="2730500">
                <a:moveTo>
                  <a:pt x="0" y="11394"/>
                </a:moveTo>
                <a:arcTo wR="95250" hR="95250" stAng="14501304" swAng="1698696"/>
                <a:lnTo>
                  <a:pt x="4998174" y="0"/>
                </a:lnTo>
                <a:arcTo wR="95250" hR="95250" stAng="16200000" swAng="1698696"/>
                <a:lnTo>
                  <a:pt x="5043348" y="2719106"/>
                </a:lnTo>
                <a:arcTo wR="95250" hR="95250" stAng="3701304" swAng="1698696"/>
                <a:lnTo>
                  <a:pt x="45174" y="2730500"/>
                </a:lnTo>
                <a:arcTo wR="95250" hR="95250" stAng="5400000" swAng="1698696"/>
                <a:close/>
              </a:path>
            </a:pathLst>
          </a:custGeom>
        </p:spPr>
      </p:pic>
      <p:sp>
        <p:nvSpPr>
          <p:cNvPr id="10" name="Shape 6"/>
          <p:cNvSpPr/>
          <p:nvPr/>
        </p:nvSpPr>
        <p:spPr>
          <a:xfrm>
            <a:off x="6226175" y="2644577"/>
            <a:ext cx="5149850" cy="2736850"/>
          </a:xfrm>
          <a:prstGeom prst="roundRect">
            <a:avLst>
              <a:gd name="adj" fmla="val 3596"/>
            </a:avLst>
          </a:prstGeom>
          <a:noFill/>
          <a:ln w="6350">
            <a:solidFill>
              <a:srgbClr val="2A2E35"/>
            </a:solidFill>
            <a:prstDash val="solid"/>
          </a:ln>
        </p:spPr>
      </p:sp>
      <p:sp>
        <p:nvSpPr>
          <p:cNvPr id="11" name="Text 7"/>
          <p:cNvSpPr/>
          <p:nvPr/>
        </p:nvSpPr>
        <p:spPr>
          <a:xfrm>
            <a:off x="6223000" y="5511602"/>
            <a:ext cx="53108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0BA"/>
                </a:solidFill>
                <a:latin typeface="IBM Plex Sans" pitchFamily="34" charset="0"/>
                <a:ea typeface="IBM Plex Sans" pitchFamily="34" charset="-122"/>
                <a:cs typeface="IBM Plex Sans" pitchFamily="34" charset="-120"/>
              </a:rPr>
              <a:t>Console: bank, regulator and operator staff sign in with a passkey and act on agents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25524"/>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8A6A14"/>
                </a:solidFill>
                <a:latin typeface="IBM Plex Sans" pitchFamily="34" charset="0"/>
                <a:ea typeface="IBM Plex Sans" pitchFamily="34" charset="-122"/>
                <a:cs typeface="IBM Plex Sans" pitchFamily="34" charset="-120"/>
              </a:rPr>
              <a:t>TASK COMPLETION · MEASURED, NOT PROMISED</a:t>
            </a:r>
            <a:endParaRPr lang="en-US" sz="1159" dirty="0"/>
          </a:p>
        </p:txBody>
      </p:sp>
      <p:sp>
        <p:nvSpPr>
          <p:cNvPr id="3" name="Text 1"/>
          <p:cNvSpPr/>
          <p:nvPr>
            <p:ph type="title"/>
          </p:nvPr>
        </p:nvSpPr>
        <p:spPr>
          <a:xfrm>
            <a:off x="812800" y="1368524"/>
            <a:ext cx="10883392" cy="497185"/>
          </a:xfrm>
          <a:prstGeom prst="rect">
            <a:avLst/>
          </a:prstGeom>
          <a:noFill/>
          <a:ln/>
        </p:spPr>
        <p:txBody>
          <a:bodyPr wrap="square" lIns="0" tIns="0" rIns="0" bIns="0" rtlCol="0" anchor="t">
            <a:normAutofit/>
          </a:bodyPr>
          <a:lstStyle/>
          <a:p>
            <a:pPr algn="l" indent="0" marL="0">
              <a:lnSpc>
                <a:spcPts val="3725"/>
              </a:lnSpc>
              <a:buNone/>
            </a:pPr>
            <a:r>
              <a:rPr lang="en-US" sz="3386" b="1" i="0" dirty="0">
                <a:solidFill>
                  <a:srgbClr val="14171C"/>
                </a:solidFill>
                <a:latin typeface="Space Grotesk" pitchFamily="34" charset="0"/>
                <a:ea typeface="Space Grotesk" pitchFamily="34" charset="-122"/>
                <a:cs typeface="Space Grotesk" pitchFamily="34" charset="-120"/>
              </a:rPr>
              <a:t>We pulled the brake on a real iPhone.</a:t>
            </a:r>
            <a:endParaRPr lang="en-US" sz="3386" dirty="0"/>
          </a:p>
        </p:txBody>
      </p:sp>
      <p:sp>
        <p:nvSpPr>
          <p:cNvPr id="4" name="Shape 2"/>
          <p:cNvSpPr/>
          <p:nvPr/>
        </p:nvSpPr>
        <p:spPr>
          <a:xfrm>
            <a:off x="815975" y="2199084"/>
            <a:ext cx="2482850" cy="1914327"/>
          </a:xfrm>
          <a:prstGeom prst="roundRect">
            <a:avLst>
              <a:gd name="adj" fmla="val 7795"/>
            </a:avLst>
          </a:prstGeom>
          <a:solidFill>
            <a:srgbClr val="FFFDF8"/>
          </a:solidFill>
          <a:ln w="6350">
            <a:solidFill>
              <a:srgbClr val="DDD8CC"/>
            </a:solidFill>
            <a:prstDash val="solid"/>
          </a:ln>
        </p:spPr>
      </p:sp>
      <p:sp>
        <p:nvSpPr>
          <p:cNvPr id="5" name="Text 3"/>
          <p:cNvSpPr/>
          <p:nvPr/>
        </p:nvSpPr>
        <p:spPr>
          <a:xfrm>
            <a:off x="1073150" y="2456259"/>
            <a:ext cx="2027555" cy="807641"/>
          </a:xfrm>
          <a:prstGeom prst="rect">
            <a:avLst/>
          </a:prstGeom>
          <a:noFill/>
          <a:ln/>
        </p:spPr>
        <p:txBody>
          <a:bodyPr wrap="square" lIns="0" tIns="0" rIns="0" bIns="0" rtlCol="0" anchor="t">
            <a:normAutofit/>
          </a:bodyPr>
          <a:lstStyle/>
          <a:p>
            <a:pPr algn="l" indent="0" marL="0">
              <a:lnSpc>
                <a:spcPts val="6160"/>
              </a:lnSpc>
              <a:buNone/>
            </a:pPr>
            <a:r>
              <a:rPr lang="en-US" sz="4400" b="1" dirty="0">
                <a:solidFill>
                  <a:srgbClr val="8A6A14"/>
                </a:solidFill>
                <a:latin typeface="Space Grotesk" pitchFamily="34" charset="0"/>
                <a:ea typeface="Space Grotesk" pitchFamily="34" charset="-122"/>
                <a:cs typeface="Space Grotesk" pitchFamily="34" charset="-120"/>
              </a:rPr>
              <a:t>6.3 s</a:t>
            </a:r>
            <a:endParaRPr lang="en-US" sz="4400" dirty="0"/>
          </a:p>
        </p:txBody>
      </p:sp>
      <p:sp>
        <p:nvSpPr>
          <p:cNvPr id="6" name="Text 4"/>
          <p:cNvSpPr/>
          <p:nvPr/>
        </p:nvSpPr>
        <p:spPr>
          <a:xfrm>
            <a:off x="1073150" y="3289300"/>
            <a:ext cx="202755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IBM Plex Sans" pitchFamily="34" charset="0"/>
                <a:ea typeface="IBM Plex Sans" pitchFamily="34" charset="-122"/>
                <a:cs typeface="IBM Plex Sans" pitchFamily="34" charset="-120"/>
              </a:rPr>
              <a:t>regulator freeze on FISCO, enforced on Base</a:t>
            </a:r>
            <a:endParaRPr lang="en-US" sz="1300" dirty="0"/>
          </a:p>
        </p:txBody>
      </p:sp>
      <p:sp>
        <p:nvSpPr>
          <p:cNvPr id="7" name="Shape 5"/>
          <p:cNvSpPr/>
          <p:nvPr/>
        </p:nvSpPr>
        <p:spPr>
          <a:xfrm>
            <a:off x="3508375" y="2199084"/>
            <a:ext cx="2482850" cy="1914327"/>
          </a:xfrm>
          <a:prstGeom prst="roundRect">
            <a:avLst>
              <a:gd name="adj" fmla="val 7795"/>
            </a:avLst>
          </a:prstGeom>
          <a:solidFill>
            <a:srgbClr val="FFFDF8"/>
          </a:solidFill>
          <a:ln w="6350">
            <a:solidFill>
              <a:srgbClr val="DDD8CC"/>
            </a:solidFill>
            <a:prstDash val="solid"/>
          </a:ln>
        </p:spPr>
      </p:sp>
      <p:sp>
        <p:nvSpPr>
          <p:cNvPr id="8" name="Text 6"/>
          <p:cNvSpPr/>
          <p:nvPr/>
        </p:nvSpPr>
        <p:spPr>
          <a:xfrm>
            <a:off x="3765550" y="2456259"/>
            <a:ext cx="2027555" cy="807641"/>
          </a:xfrm>
          <a:prstGeom prst="rect">
            <a:avLst/>
          </a:prstGeom>
          <a:noFill/>
          <a:ln/>
        </p:spPr>
        <p:txBody>
          <a:bodyPr wrap="square" lIns="0" tIns="0" rIns="0" bIns="0" rtlCol="0" anchor="t">
            <a:normAutofit/>
          </a:bodyPr>
          <a:lstStyle/>
          <a:p>
            <a:pPr algn="l" indent="0" marL="0">
              <a:lnSpc>
                <a:spcPts val="6160"/>
              </a:lnSpc>
              <a:buNone/>
            </a:pPr>
            <a:r>
              <a:rPr lang="en-US" sz="4400" b="1" dirty="0">
                <a:solidFill>
                  <a:srgbClr val="2F5FA8"/>
                </a:solidFill>
                <a:latin typeface="Space Grotesk" pitchFamily="34" charset="0"/>
                <a:ea typeface="Space Grotesk" pitchFamily="34" charset="-122"/>
                <a:cs typeface="Space Grotesk" pitchFamily="34" charset="-120"/>
              </a:rPr>
              <a:t>1×</a:t>
            </a:r>
            <a:endParaRPr lang="en-US" sz="4400" dirty="0"/>
          </a:p>
        </p:txBody>
      </p:sp>
      <p:sp>
        <p:nvSpPr>
          <p:cNvPr id="9" name="Text 7"/>
          <p:cNvSpPr/>
          <p:nvPr/>
        </p:nvSpPr>
        <p:spPr>
          <a:xfrm>
            <a:off x="3765550" y="3289300"/>
            <a:ext cx="202755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IBM Plex Sans" pitchFamily="34" charset="0"/>
                <a:ea typeface="IBM Plex Sans" pitchFamily="34" charset="-122"/>
                <a:cs typeface="IBM Plex Sans" pitchFamily="34" charset="-120"/>
              </a:rPr>
              <a:t>each Face ID approval; a replay is refused on-chain</a:t>
            </a:r>
            <a:endParaRPr lang="en-US" sz="1300" dirty="0"/>
          </a:p>
        </p:txBody>
      </p:sp>
      <p:sp>
        <p:nvSpPr>
          <p:cNvPr id="10" name="Shape 8"/>
          <p:cNvSpPr/>
          <p:nvPr/>
        </p:nvSpPr>
        <p:spPr>
          <a:xfrm>
            <a:off x="6200775" y="2199084"/>
            <a:ext cx="2482850" cy="1914327"/>
          </a:xfrm>
          <a:prstGeom prst="roundRect">
            <a:avLst>
              <a:gd name="adj" fmla="val 7795"/>
            </a:avLst>
          </a:prstGeom>
          <a:solidFill>
            <a:srgbClr val="FFFDF8"/>
          </a:solidFill>
          <a:ln w="6350">
            <a:solidFill>
              <a:srgbClr val="DDD8CC"/>
            </a:solidFill>
            <a:prstDash val="solid"/>
          </a:ln>
        </p:spPr>
      </p:sp>
      <p:sp>
        <p:nvSpPr>
          <p:cNvPr id="11" name="Text 9"/>
          <p:cNvSpPr/>
          <p:nvPr/>
        </p:nvSpPr>
        <p:spPr>
          <a:xfrm>
            <a:off x="6457950" y="2456259"/>
            <a:ext cx="2027555" cy="740668"/>
          </a:xfrm>
          <a:prstGeom prst="rect">
            <a:avLst/>
          </a:prstGeom>
          <a:noFill/>
          <a:ln/>
        </p:spPr>
        <p:txBody>
          <a:bodyPr wrap="square" lIns="0" tIns="0" rIns="0" bIns="0" rtlCol="0" anchor="t">
            <a:normAutofit/>
          </a:bodyPr>
          <a:lstStyle/>
          <a:p>
            <a:pPr algn="l" indent="0" marL="0">
              <a:lnSpc>
                <a:spcPts val="5660"/>
              </a:lnSpc>
              <a:buNone/>
            </a:pPr>
            <a:r>
              <a:rPr lang="en-US" sz="4043" b="1" dirty="0">
                <a:solidFill>
                  <a:srgbClr val="2F5FA8"/>
                </a:solidFill>
                <a:latin typeface="Space Grotesk" pitchFamily="34" charset="0"/>
                <a:ea typeface="Space Grotesk" pitchFamily="34" charset="-122"/>
                <a:cs typeface="Space Grotesk" pitchFamily="34" charset="-120"/>
              </a:rPr>
              <a:t>=</a:t>
            </a:r>
            <a:endParaRPr lang="en-US" sz="4043" dirty="0"/>
          </a:p>
        </p:txBody>
      </p:sp>
      <p:sp>
        <p:nvSpPr>
          <p:cNvPr id="12" name="Text 10"/>
          <p:cNvSpPr/>
          <p:nvPr/>
        </p:nvSpPr>
        <p:spPr>
          <a:xfrm>
            <a:off x="6457950" y="3222327"/>
            <a:ext cx="2027555" cy="659309"/>
          </a:xfrm>
          <a:prstGeom prst="rect">
            <a:avLst/>
          </a:prstGeom>
          <a:noFill/>
          <a:ln/>
        </p:spPr>
        <p:txBody>
          <a:bodyPr wrap="square" lIns="0" tIns="0" rIns="0" bIns="0" rtlCol="0" anchor="t">
            <a:normAutofit/>
          </a:bodyPr>
          <a:lstStyle/>
          <a:p>
            <a:pPr algn="l" indent="0" marL="0">
              <a:lnSpc>
                <a:spcPts val="1672"/>
              </a:lnSpc>
              <a:buNone/>
            </a:pPr>
            <a:r>
              <a:rPr lang="en-US" sz="1194" dirty="0">
                <a:solidFill>
                  <a:srgbClr val="4A4F57"/>
                </a:solidFill>
                <a:latin typeface="IBM Plex Sans" pitchFamily="34" charset="0"/>
                <a:ea typeface="IBM Plex Sans" pitchFamily="34" charset="-122"/>
                <a:cs typeface="IBM Plex Sans" pitchFamily="34" charset="-120"/>
              </a:rPr>
              <a:t>phone and web recompute the same digest before you sign</a:t>
            </a:r>
            <a:endParaRPr lang="en-US" sz="1194" dirty="0"/>
          </a:p>
        </p:txBody>
      </p:sp>
      <p:sp>
        <p:nvSpPr>
          <p:cNvPr id="13" name="Shape 11"/>
          <p:cNvSpPr/>
          <p:nvPr/>
        </p:nvSpPr>
        <p:spPr>
          <a:xfrm>
            <a:off x="8893175" y="2199084"/>
            <a:ext cx="2482850" cy="1914327"/>
          </a:xfrm>
          <a:prstGeom prst="roundRect">
            <a:avLst>
              <a:gd name="adj" fmla="val 7795"/>
            </a:avLst>
          </a:prstGeom>
          <a:solidFill>
            <a:srgbClr val="FFFDF8"/>
          </a:solidFill>
          <a:ln w="6350">
            <a:solidFill>
              <a:srgbClr val="DDD8CC"/>
            </a:solidFill>
            <a:prstDash val="solid"/>
          </a:ln>
        </p:spPr>
      </p:sp>
      <p:sp>
        <p:nvSpPr>
          <p:cNvPr id="14" name="Text 12"/>
          <p:cNvSpPr/>
          <p:nvPr/>
        </p:nvSpPr>
        <p:spPr>
          <a:xfrm>
            <a:off x="9150350" y="2456259"/>
            <a:ext cx="2027555" cy="740668"/>
          </a:xfrm>
          <a:prstGeom prst="rect">
            <a:avLst/>
          </a:prstGeom>
          <a:noFill/>
          <a:ln/>
        </p:spPr>
        <p:txBody>
          <a:bodyPr wrap="square" lIns="0" tIns="0" rIns="0" bIns="0" rtlCol="0" anchor="t">
            <a:normAutofit/>
          </a:bodyPr>
          <a:lstStyle/>
          <a:p>
            <a:pPr algn="l" indent="0" marL="0">
              <a:lnSpc>
                <a:spcPts val="5660"/>
              </a:lnSpc>
              <a:buNone/>
            </a:pPr>
            <a:r>
              <a:rPr lang="en-US" sz="4043" b="1" dirty="0">
                <a:solidFill>
                  <a:srgbClr val="2F5FA8"/>
                </a:solidFill>
                <a:latin typeface="Space Grotesk" pitchFamily="34" charset="0"/>
                <a:ea typeface="Space Grotesk" pitchFamily="34" charset="-122"/>
                <a:cs typeface="Space Grotesk" pitchFamily="34" charset="-120"/>
              </a:rPr>
              <a:t>700+</a:t>
            </a:r>
            <a:endParaRPr lang="en-US" sz="4043" dirty="0"/>
          </a:p>
        </p:txBody>
      </p:sp>
      <p:sp>
        <p:nvSpPr>
          <p:cNvPr id="15" name="Text 13"/>
          <p:cNvSpPr/>
          <p:nvPr/>
        </p:nvSpPr>
        <p:spPr>
          <a:xfrm>
            <a:off x="9150350" y="3222327"/>
            <a:ext cx="2027555" cy="659309"/>
          </a:xfrm>
          <a:prstGeom prst="rect">
            <a:avLst/>
          </a:prstGeom>
          <a:noFill/>
          <a:ln/>
        </p:spPr>
        <p:txBody>
          <a:bodyPr wrap="square" lIns="0" tIns="0" rIns="0" bIns="0" rtlCol="0" anchor="t">
            <a:normAutofit/>
          </a:bodyPr>
          <a:lstStyle/>
          <a:p>
            <a:pPr algn="l" indent="0" marL="0">
              <a:lnSpc>
                <a:spcPts val="1792"/>
              </a:lnSpc>
              <a:buNone/>
            </a:pPr>
            <a:r>
              <a:rPr lang="en-US" sz="1280" dirty="0">
                <a:solidFill>
                  <a:srgbClr val="4A4F57"/>
                </a:solidFill>
                <a:latin typeface="IBM Plex Sans" pitchFamily="34" charset="0"/>
                <a:ea typeface="IBM Plex Sans" pitchFamily="34" charset="-122"/>
                <a:cs typeface="IBM Plex Sans" pitchFamily="34" charset="-120"/>
              </a:rPr>
              <a:t>automated tests, plus end-to-end flows F1 to F10</a:t>
            </a:r>
            <a:endParaRPr lang="en-US" sz="128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5500" y="4484886"/>
          <a:ext cx="10553700" cy="1563688"/>
        </p:xfrm>
        <a:graphic>
          <a:graphicData uri="http://schemas.openxmlformats.org/drawingml/2006/table">
            <a:tbl>
              <a:tblPr/>
              <a:tblGrid>
                <a:gridCol w="5804535"/>
                <a:gridCol w="4749165"/>
              </a:tblGrid>
              <a:tr h="312738">
                <a:tc>
                  <a:txBody>
                    <a:bodyPr/>
                    <a:lstStyle/>
                    <a:p>
                      <a:pPr indent="0" marL="0">
                        <a:lnSpc>
                          <a:spcPts val="1575"/>
                        </a:lnSpc>
                        <a:buNone/>
                      </a:pPr>
                      <a:r>
                        <a:rPr lang="en-US" sz="1125" b="1" dirty="0">
                          <a:solidFill>
                            <a:srgbClr val="14171C"/>
                          </a:solidFill>
                          <a:latin typeface="IBM Plex Sans" pitchFamily="34" charset="0"/>
                          <a:ea typeface="IBM Plex Sans" pitchFamily="34" charset="-122"/>
                          <a:cs typeface="IBM Plex Sans" pitchFamily="34" charset="-120"/>
                        </a:rPr>
                        <a:t>Tested end to end, iPhone + WeChat</a:t>
                      </a:r>
                      <a:endParaRPr lang="en-US" sz="1125" dirty="0">
                        <a:latin typeface="IBM Plex Sans" charset="0"/>
                        <a:ea typeface="IBM Plex Sans" charset="0"/>
                        <a:cs typeface="IBM Plex Sans" charset="0"/>
                      </a:endParaRPr>
                    </a:p>
                  </a:txBody>
                  <a:tcPr marL="50006" marR="50006" marT="50006" marB="50006" anchor="t">
                    <a:lnL w="12700" cap="flat" cmpd="sng" algn="ctr">
                      <a:solidFill>
                        <a:srgbClr val="C2C0BC"/>
                      </a:solidFill>
                      <a:prstDash val="solid"/>
                      <a:round/>
                      <a:headEnd type="none" w="med" len="med"/>
                      <a:tailEnd type="none" w="med" len="med"/>
                    </a:lnL>
                    <a:lnR w="12700" cap="flat" cmpd="sng" algn="ctr">
                      <a:solidFill>
                        <a:srgbClr val="B4B2AF"/>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B4B2AF"/>
                      </a:solidFill>
                      <a:prstDash val="solid"/>
                      <a:round/>
                      <a:headEnd type="none" w="med" len="med"/>
                      <a:tailEnd type="none" w="med" len="med"/>
                    </a:lnB>
                    <a:solidFill>
                      <a:srgbClr val="E1DFDB"/>
                    </a:solidFill>
                  </a:tcPr>
                </a:tc>
                <a:tc>
                  <a:txBody>
                    <a:bodyPr/>
                    <a:lstStyle/>
                    <a:p>
                      <a:pPr indent="0" marL="0">
                        <a:lnSpc>
                          <a:spcPts val="1575"/>
                        </a:lnSpc>
                        <a:buNone/>
                      </a:pPr>
                      <a:r>
                        <a:rPr lang="en-US" sz="1125" b="1" dirty="0">
                          <a:solidFill>
                            <a:srgbClr val="14171C"/>
                          </a:solidFill>
                          <a:latin typeface="IBM Plex Sans" pitchFamily="34" charset="0"/>
                          <a:ea typeface="IBM Plex Sans" pitchFamily="34" charset="-122"/>
                          <a:cs typeface="IBM Plex Sans" pitchFamily="34" charset="-120"/>
                        </a:rPr>
                        <a:t>Result</a:t>
                      </a:r>
                      <a:endParaRPr lang="en-US" sz="1125" dirty="0">
                        <a:latin typeface="IBM Plex Sans" charset="0"/>
                        <a:ea typeface="IBM Plex Sans" charset="0"/>
                        <a:cs typeface="IBM Plex Sans" charset="0"/>
                      </a:endParaRPr>
                    </a:p>
                  </a:txBody>
                  <a:tcPr marL="50006" marR="50006" marT="50006" marB="50006" anchor="t">
                    <a:lnL w="12700" cap="flat" cmpd="sng" algn="ctr">
                      <a:solidFill>
                        <a:srgbClr val="B4B2AF"/>
                      </a:solidFill>
                      <a:prstDash val="solid"/>
                      <a:round/>
                      <a:headEnd type="none" w="med" len="med"/>
                      <a:tailEnd type="none" w="med" len="med"/>
                    </a:lnL>
                    <a:lnR w="12700" cap="flat" cmpd="sng" algn="ctr">
                      <a:solidFill>
                        <a:srgbClr val="B4B2AF"/>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B4B2AF"/>
                      </a:solidFill>
                      <a:prstDash val="solid"/>
                      <a:round/>
                      <a:headEnd type="none" w="med" len="med"/>
                      <a:tailEnd type="none" w="med" len="med"/>
                    </a:lnB>
                    <a:solidFill>
                      <a:srgbClr val="E1DFDB"/>
                    </a:solidFill>
                  </a:tcPr>
                </a:tc>
              </a:tr>
              <a:tr h="312738">
                <a:tc>
                  <a:txBody>
                    <a:bodyPr/>
                    <a:lstStyle/>
                    <a:p>
                      <a:pPr indent="0" marL="0">
                        <a:lnSpc>
                          <a:spcPts val="1575"/>
                        </a:lnSpc>
                        <a:buNone/>
                      </a:pPr>
                      <a:r>
                        <a:rPr lang="en-US" sz="1125" dirty="0">
                          <a:solidFill>
                            <a:srgbClr val="14171C"/>
                          </a:solidFill>
                          <a:latin typeface="IBM Plex Sans" pitchFamily="34" charset="0"/>
                          <a:ea typeface="IBM Plex Sans" pitchFamily="34" charset="-122"/>
                          <a:cs typeface="IBM Plex Sans" pitchFamily="34" charset="-120"/>
                        </a:rPr>
                        <a:t>Agent asks; owner approves 270 USDC with WeChat Face ID (SOTER)</a:t>
                      </a:r>
                      <a:endParaRPr lang="en-US" sz="1125" dirty="0">
                        <a:latin typeface="IBM Plex Sans" charset="0"/>
                        <a:ea typeface="IBM Plex Sans" charset="0"/>
                        <a:cs typeface="IBM Plex Sans" charset="0"/>
                      </a:endParaRPr>
                    </a:p>
                  </a:txBody>
                  <a:tcPr marL="50006" marR="50006" marT="50006" marB="50006"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B4B2AF"/>
                      </a:solidFill>
                      <a:prstDash val="solid"/>
                      <a:round/>
                      <a:headEnd type="none" w="med" len="med"/>
                      <a:tailEnd type="none" w="med" len="med"/>
                    </a:lnT>
                    <a:lnB w="12700" cap="flat" cmpd="sng" algn="ctr">
                      <a:solidFill>
                        <a:srgbClr val="C2C0BC"/>
                      </a:solidFill>
                      <a:prstDash val="solid"/>
                      <a:round/>
                      <a:headEnd type="none" w="med" len="med"/>
                      <a:tailEnd type="none" w="med" len="med"/>
                    </a:lnB>
                  </a:tcPr>
                </a:tc>
                <a:tc>
                  <a:txBody>
                    <a:bodyPr/>
                    <a:lstStyle/>
                    <a:p>
                      <a:pPr indent="0" marL="0">
                        <a:lnSpc>
                          <a:spcPts val="1575"/>
                        </a:lnSpc>
                        <a:buNone/>
                      </a:pPr>
                      <a:r>
                        <a:rPr lang="en-US" sz="1125" dirty="0">
                          <a:solidFill>
                            <a:srgbClr val="14171C"/>
                          </a:solidFill>
                          <a:latin typeface="IBM Plex Sans" pitchFamily="34" charset="0"/>
                          <a:ea typeface="IBM Plex Sans" pitchFamily="34" charset="-122"/>
                          <a:cs typeface="IBM Plex Sans" pitchFamily="34" charset="-120"/>
                        </a:rPr>
                        <a:t>Executed on Base</a:t>
                      </a:r>
                      <a:endParaRPr lang="en-US" sz="1125" dirty="0">
                        <a:latin typeface="IBM Plex Sans" charset="0"/>
                        <a:ea typeface="IBM Plex Sans" charset="0"/>
                        <a:cs typeface="IBM Plex Sans" charset="0"/>
                      </a:endParaRPr>
                    </a:p>
                  </a:txBody>
                  <a:tcPr marL="50006" marR="50006" marT="50006" marB="50006"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B4B2AF"/>
                      </a:solidFill>
                      <a:prstDash val="solid"/>
                      <a:round/>
                      <a:headEnd type="none" w="med" len="med"/>
                      <a:tailEnd type="none" w="med" len="med"/>
                    </a:lnT>
                    <a:lnB w="12700" cap="flat" cmpd="sng" algn="ctr">
                      <a:solidFill>
                        <a:srgbClr val="C2C0BC"/>
                      </a:solidFill>
                      <a:prstDash val="solid"/>
                      <a:round/>
                      <a:headEnd type="none" w="med" len="med"/>
                      <a:tailEnd type="none" w="med" len="med"/>
                    </a:lnB>
                  </a:tcPr>
                </a:tc>
              </a:tr>
              <a:tr h="312738">
                <a:tc>
                  <a:txBody>
                    <a:bodyPr/>
                    <a:lstStyle/>
                    <a:p>
                      <a:pPr indent="0" marL="0">
                        <a:lnSpc>
                          <a:spcPts val="1575"/>
                        </a:lnSpc>
                        <a:buNone/>
                      </a:pPr>
                      <a:r>
                        <a:rPr lang="en-US" sz="1125" dirty="0">
                          <a:solidFill>
                            <a:srgbClr val="14171C"/>
                          </a:solidFill>
                          <a:latin typeface="IBM Plex Sans" pitchFamily="34" charset="0"/>
                          <a:ea typeface="IBM Plex Sans" pitchFamily="34" charset="-122"/>
                          <a:cs typeface="IBM Plex Sans" pitchFamily="34" charset="-120"/>
                        </a:rPr>
                        <a:t>Same approval sent again</a:t>
                      </a:r>
                      <a:endParaRPr lang="en-US" sz="1125" dirty="0">
                        <a:latin typeface="IBM Plex Sans" charset="0"/>
                        <a:ea typeface="IBM Plex Sans" charset="0"/>
                        <a:cs typeface="IBM Plex Sans" charset="0"/>
                      </a:endParaRPr>
                    </a:p>
                  </a:txBody>
                  <a:tcPr marL="50006" marR="50006" marT="50006" marB="50006"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2C0BC"/>
                      </a:solidFill>
                      <a:prstDash val="solid"/>
                      <a:round/>
                      <a:headEnd type="none" w="med" len="med"/>
                      <a:tailEnd type="none" w="med" len="med"/>
                    </a:lnB>
                  </a:tcPr>
                </a:tc>
                <a:tc>
                  <a:txBody>
                    <a:bodyPr/>
                    <a:lstStyle/>
                    <a:p>
                      <a:pPr indent="0" marL="0">
                        <a:lnSpc>
                          <a:spcPts val="1575"/>
                        </a:lnSpc>
                        <a:buNone/>
                      </a:pPr>
                      <a:r>
                        <a:rPr lang="en-US" sz="1125" dirty="0">
                          <a:solidFill>
                            <a:srgbClr val="14171C"/>
                          </a:solidFill>
                          <a:latin typeface="IBM Plex Sans" pitchFamily="34" charset="0"/>
                          <a:ea typeface="IBM Plex Sans" pitchFamily="34" charset="-122"/>
                          <a:cs typeface="IBM Plex Sans" pitchFamily="34" charset="-120"/>
                        </a:rPr>
                        <a:t>Refused: DigestUsed</a:t>
                      </a:r>
                      <a:endParaRPr lang="en-US" sz="1125" dirty="0">
                        <a:latin typeface="IBM Plex Sans" charset="0"/>
                        <a:ea typeface="IBM Plex Sans" charset="0"/>
                        <a:cs typeface="IBM Plex Sans" charset="0"/>
                      </a:endParaRPr>
                    </a:p>
                  </a:txBody>
                  <a:tcPr marL="50006" marR="50006" marT="50006" marB="50006"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2C0BC"/>
                      </a:solidFill>
                      <a:prstDash val="solid"/>
                      <a:round/>
                      <a:headEnd type="none" w="med" len="med"/>
                      <a:tailEnd type="none" w="med" len="med"/>
                    </a:lnB>
                  </a:tcPr>
                </a:tc>
              </a:tr>
              <a:tr h="312738">
                <a:tc>
                  <a:txBody>
                    <a:bodyPr/>
                    <a:lstStyle/>
                    <a:p>
                      <a:pPr indent="0" marL="0">
                        <a:lnSpc>
                          <a:spcPts val="1575"/>
                        </a:lnSpc>
                        <a:buNone/>
                      </a:pPr>
                      <a:r>
                        <a:rPr lang="en-US" sz="1125" dirty="0">
                          <a:solidFill>
                            <a:srgbClr val="14171C"/>
                          </a:solidFill>
                          <a:latin typeface="IBM Plex Sans" pitchFamily="34" charset="0"/>
                          <a:ea typeface="IBM Plex Sans" pitchFamily="34" charset="-122"/>
                          <a:cs typeface="IBM Plex Sans" pitchFamily="34" charset="-120"/>
                        </a:rPr>
                        <a:t>Regulator freezes; agent tries to pay</a:t>
                      </a:r>
                      <a:endParaRPr lang="en-US" sz="1125" dirty="0">
                        <a:latin typeface="IBM Plex Sans" charset="0"/>
                        <a:ea typeface="IBM Plex Sans" charset="0"/>
                        <a:cs typeface="IBM Plex Sans" charset="0"/>
                      </a:endParaRPr>
                    </a:p>
                  </a:txBody>
                  <a:tcPr marL="50006" marR="50006" marT="50006" marB="50006"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2C0BC"/>
                      </a:solidFill>
                      <a:prstDash val="solid"/>
                      <a:round/>
                      <a:headEnd type="none" w="med" len="med"/>
                      <a:tailEnd type="none" w="med" len="med"/>
                    </a:lnB>
                  </a:tcPr>
                </a:tc>
                <a:tc>
                  <a:txBody>
                    <a:bodyPr/>
                    <a:lstStyle/>
                    <a:p>
                      <a:pPr indent="0" marL="0">
                        <a:lnSpc>
                          <a:spcPts val="1575"/>
                        </a:lnSpc>
                        <a:buNone/>
                      </a:pPr>
                      <a:r>
                        <a:rPr lang="en-US" sz="1125" dirty="0">
                          <a:solidFill>
                            <a:srgbClr val="14171C"/>
                          </a:solidFill>
                          <a:latin typeface="IBM Plex Sans" pitchFamily="34" charset="0"/>
                          <a:ea typeface="IBM Plex Sans" pitchFamily="34" charset="-122"/>
                          <a:cs typeface="IBM Plex Sans" pitchFamily="34" charset="-120"/>
                        </a:rPr>
                        <a:t>Refused: FROZEN, app turns red</a:t>
                      </a:r>
                      <a:endParaRPr lang="en-US" sz="1125" dirty="0">
                        <a:latin typeface="IBM Plex Sans" charset="0"/>
                        <a:ea typeface="IBM Plex Sans" charset="0"/>
                        <a:cs typeface="IBM Plex Sans" charset="0"/>
                      </a:endParaRPr>
                    </a:p>
                  </a:txBody>
                  <a:tcPr marL="50006" marR="50006" marT="50006" marB="50006"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2C0BC"/>
                      </a:solidFill>
                      <a:prstDash val="solid"/>
                      <a:round/>
                      <a:headEnd type="none" w="med" len="med"/>
                      <a:tailEnd type="none" w="med" len="med"/>
                    </a:lnB>
                  </a:tcPr>
                </a:tc>
              </a:tr>
              <a:tr h="312738">
                <a:tc>
                  <a:txBody>
                    <a:bodyPr/>
                    <a:lstStyle/>
                    <a:p>
                      <a:pPr indent="0" marL="0">
                        <a:lnSpc>
                          <a:spcPts val="1575"/>
                        </a:lnSpc>
                        <a:buNone/>
                      </a:pPr>
                      <a:r>
                        <a:rPr lang="en-US" sz="1125" dirty="0">
                          <a:solidFill>
                            <a:srgbClr val="14171C"/>
                          </a:solidFill>
                          <a:latin typeface="IBM Plex Sans" pitchFamily="34" charset="0"/>
                          <a:ea typeface="IBM Plex Sans" pitchFamily="34" charset="-122"/>
                          <a:cs typeface="IBM Plex Sans" pitchFamily="34" charset="-120"/>
                        </a:rPr>
                        <a:t>Bank + regulator loosen</a:t>
                      </a:r>
                      <a:endParaRPr lang="en-US" sz="1125" dirty="0">
                        <a:latin typeface="IBM Plex Sans" charset="0"/>
                        <a:ea typeface="IBM Plex Sans" charset="0"/>
                        <a:cs typeface="IBM Plex Sans" charset="0"/>
                      </a:endParaRPr>
                    </a:p>
                  </a:txBody>
                  <a:tcPr marL="50006" marR="50006" marT="50006" marB="50006"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2C0BC"/>
                      </a:solidFill>
                      <a:prstDash val="solid"/>
                      <a:round/>
                      <a:headEnd type="none" w="med" len="med"/>
                      <a:tailEnd type="none" w="med" len="med"/>
                    </a:lnB>
                  </a:tcPr>
                </a:tc>
                <a:tc>
                  <a:txBody>
                    <a:bodyPr/>
                    <a:lstStyle/>
                    <a:p>
                      <a:pPr indent="0" marL="0">
                        <a:lnSpc>
                          <a:spcPts val="1575"/>
                        </a:lnSpc>
                        <a:buNone/>
                      </a:pPr>
                      <a:r>
                        <a:rPr lang="en-US" sz="1125" dirty="0">
                          <a:solidFill>
                            <a:srgbClr val="14171C"/>
                          </a:solidFill>
                          <a:latin typeface="IBM Plex Sans" pitchFamily="34" charset="0"/>
                          <a:ea typeface="IBM Plex Sans" pitchFamily="34" charset="-122"/>
                          <a:cs typeface="IBM Plex Sans" pitchFamily="34" charset="-120"/>
                        </a:rPr>
                        <a:t>Live again in 7.5 s</a:t>
                      </a:r>
                      <a:endParaRPr lang="en-US" sz="1125" dirty="0">
                        <a:latin typeface="IBM Plex Sans" charset="0"/>
                        <a:ea typeface="IBM Plex Sans" charset="0"/>
                        <a:cs typeface="IBM Plex Sans" charset="0"/>
                      </a:endParaRPr>
                    </a:p>
                  </a:txBody>
                  <a:tcPr marL="50006" marR="50006" marT="50006" marB="50006"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2C0BC"/>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11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B84B"/>
                </a:solidFill>
                <a:latin typeface="IBM Plex Sans" pitchFamily="34" charset="0"/>
                <a:ea typeface="IBM Plex Sans" pitchFamily="34" charset="-122"/>
                <a:cs typeface="IBM Plex Sans" pitchFamily="34" charset="-120"/>
              </a:rPr>
              <a:t>INNOVATION · WHAT IS NEW</a:t>
            </a:r>
            <a:endParaRPr lang="en-US" sz="1200" dirty="0"/>
          </a:p>
        </p:txBody>
      </p:sp>
      <p:sp>
        <p:nvSpPr>
          <p:cNvPr id="3" name="Text 1"/>
          <p:cNvSpPr/>
          <p:nvPr>
            <p:ph type="title"/>
          </p:nvPr>
        </p:nvSpPr>
        <p:spPr>
          <a:xfrm>
            <a:off x="812800" y="1381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0EA"/>
                </a:solidFill>
                <a:latin typeface="Space Grotesk" pitchFamily="34" charset="0"/>
                <a:ea typeface="Space Grotesk" pitchFamily="34" charset="-122"/>
                <a:cs typeface="Space Grotesk" pitchFamily="34" charset="-120"/>
              </a:rPr>
              <a:t>Four firsts, in one wallet</a:t>
            </a:r>
            <a:endParaRPr lang="en-US" sz="3600" dirty="0"/>
          </a:p>
        </p:txBody>
      </p:sp>
      <p:sp>
        <p:nvSpPr>
          <p:cNvPr id="4" name="Shape 2"/>
          <p:cNvSpPr/>
          <p:nvPr/>
        </p:nvSpPr>
        <p:spPr>
          <a:xfrm>
            <a:off x="825500" y="2240161"/>
            <a:ext cx="0" cy="700881"/>
          </a:xfrm>
          <a:prstGeom prst="line">
            <a:avLst/>
          </a:prstGeom>
          <a:noFill/>
          <a:ln w="25400">
            <a:solidFill>
              <a:srgbClr val="E0B84B"/>
            </a:solidFill>
            <a:prstDash val="solid"/>
          </a:ln>
        </p:spPr>
      </p:sp>
      <p:sp>
        <p:nvSpPr>
          <p:cNvPr id="5" name="Text 3"/>
          <p:cNvSpPr/>
          <p:nvPr/>
        </p:nvSpPr>
        <p:spPr>
          <a:xfrm>
            <a:off x="1041400" y="2290961"/>
            <a:ext cx="510159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0EA"/>
                </a:solidFill>
                <a:latin typeface="Space Grotesk" pitchFamily="34" charset="0"/>
                <a:ea typeface="Space Grotesk" pitchFamily="34" charset="-122"/>
                <a:cs typeface="Space Grotesk" pitchFamily="34" charset="-120"/>
              </a:rPr>
              <a:t>A consortium brake across chains</a:t>
            </a:r>
            <a:endParaRPr lang="en-US" sz="1800" dirty="0"/>
          </a:p>
        </p:txBody>
      </p:sp>
      <p:sp>
        <p:nvSpPr>
          <p:cNvPr id="6" name="Text 4"/>
          <p:cNvSpPr/>
          <p:nvPr/>
        </p:nvSpPr>
        <p:spPr>
          <a:xfrm>
            <a:off x="1041400" y="2641402"/>
            <a:ext cx="510159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0BA"/>
                </a:solidFill>
                <a:latin typeface="IBM Plex Sans" pitchFamily="34" charset="0"/>
                <a:ea typeface="IBM Plex Sans" pitchFamily="34" charset="-122"/>
                <a:cs typeface="IBM Plex Sans" pitchFamily="34" charset="-120"/>
              </a:rPr>
              <a:t>FISCO governs a wallet on a public chain, over WeCross</a:t>
            </a:r>
            <a:endParaRPr lang="en-US" sz="1400" dirty="0"/>
          </a:p>
        </p:txBody>
      </p:sp>
      <p:sp>
        <p:nvSpPr>
          <p:cNvPr id="7" name="Shape 5"/>
          <p:cNvSpPr/>
          <p:nvPr/>
        </p:nvSpPr>
        <p:spPr>
          <a:xfrm>
            <a:off x="6210300" y="2240161"/>
            <a:ext cx="0" cy="700881"/>
          </a:xfrm>
          <a:prstGeom prst="line">
            <a:avLst/>
          </a:prstGeom>
          <a:noFill/>
          <a:ln w="25400">
            <a:solidFill>
              <a:srgbClr val="8AB4F8"/>
            </a:solidFill>
            <a:prstDash val="solid"/>
          </a:ln>
        </p:spPr>
      </p:sp>
      <p:sp>
        <p:nvSpPr>
          <p:cNvPr id="8" name="Text 6"/>
          <p:cNvSpPr/>
          <p:nvPr/>
        </p:nvSpPr>
        <p:spPr>
          <a:xfrm>
            <a:off x="6426200" y="2290961"/>
            <a:ext cx="510159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0EA"/>
                </a:solidFill>
                <a:latin typeface="Space Grotesk" pitchFamily="34" charset="0"/>
                <a:ea typeface="Space Grotesk" pitchFamily="34" charset="-122"/>
                <a:cs typeface="Space Grotesk" pitchFamily="34" charset="-120"/>
              </a:rPr>
              <a:t>WeChat Face ID that moves money on-chain</a:t>
            </a:r>
            <a:endParaRPr lang="en-US" sz="1800" dirty="0"/>
          </a:p>
        </p:txBody>
      </p:sp>
      <p:sp>
        <p:nvSpPr>
          <p:cNvPr id="9" name="Text 7"/>
          <p:cNvSpPr/>
          <p:nvPr/>
        </p:nvSpPr>
        <p:spPr>
          <a:xfrm>
            <a:off x="6426200" y="2641402"/>
            <a:ext cx="510159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0BA"/>
                </a:solidFill>
                <a:latin typeface="IBM Plex Sans" pitchFamily="34" charset="0"/>
                <a:ea typeface="IBM Plex Sans" pitchFamily="34" charset="-122"/>
                <a:cs typeface="IBM Plex Sans" pitchFamily="34" charset="-120"/>
              </a:rPr>
              <a:t>SOTER approvals, single-use, enforced by the contract</a:t>
            </a:r>
            <a:endParaRPr lang="en-US" sz="1400" dirty="0"/>
          </a:p>
        </p:txBody>
      </p:sp>
      <p:sp>
        <p:nvSpPr>
          <p:cNvPr id="10" name="Shape 8"/>
          <p:cNvSpPr/>
          <p:nvPr/>
        </p:nvSpPr>
        <p:spPr>
          <a:xfrm>
            <a:off x="825500" y="3144242"/>
            <a:ext cx="0" cy="700881"/>
          </a:xfrm>
          <a:prstGeom prst="line">
            <a:avLst/>
          </a:prstGeom>
          <a:noFill/>
          <a:ln w="25400">
            <a:solidFill>
              <a:srgbClr val="8AB4F8"/>
            </a:solidFill>
            <a:prstDash val="solid"/>
          </a:ln>
        </p:spPr>
      </p:sp>
      <p:sp>
        <p:nvSpPr>
          <p:cNvPr id="11" name="Text 9"/>
          <p:cNvSpPr/>
          <p:nvPr/>
        </p:nvSpPr>
        <p:spPr>
          <a:xfrm>
            <a:off x="1041400" y="3195042"/>
            <a:ext cx="510159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0EA"/>
                </a:solidFill>
                <a:latin typeface="Space Grotesk" pitchFamily="34" charset="0"/>
                <a:ea typeface="Space Grotesk" pitchFamily="34" charset="-122"/>
                <a:cs typeface="Space Grotesk" pitchFamily="34" charset="-120"/>
              </a:rPr>
              <a:t>Know your agent</a:t>
            </a:r>
            <a:endParaRPr lang="en-US" sz="1800" dirty="0"/>
          </a:p>
        </p:txBody>
      </p:sp>
      <p:sp>
        <p:nvSpPr>
          <p:cNvPr id="12" name="Text 10"/>
          <p:cNvSpPr/>
          <p:nvPr/>
        </p:nvSpPr>
        <p:spPr>
          <a:xfrm>
            <a:off x="1041400" y="3545483"/>
            <a:ext cx="510159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0BA"/>
                </a:solidFill>
                <a:latin typeface="IBM Plex Sans" pitchFamily="34" charset="0"/>
                <a:ea typeface="IBM Plex Sans" pitchFamily="34" charset="-122"/>
                <a:cs typeface="IBM Plex Sans" pitchFamily="34" charset="-120"/>
              </a:rPr>
              <a:t>The agent has its own WeIdentity ID and mandate credential</a:t>
            </a:r>
            <a:endParaRPr lang="en-US" sz="1400" dirty="0"/>
          </a:p>
        </p:txBody>
      </p:sp>
      <p:sp>
        <p:nvSpPr>
          <p:cNvPr id="13" name="Shape 11"/>
          <p:cNvSpPr/>
          <p:nvPr/>
        </p:nvSpPr>
        <p:spPr>
          <a:xfrm>
            <a:off x="6210300" y="3144242"/>
            <a:ext cx="0" cy="700881"/>
          </a:xfrm>
          <a:prstGeom prst="line">
            <a:avLst/>
          </a:prstGeom>
          <a:noFill/>
          <a:ln w="25400">
            <a:solidFill>
              <a:srgbClr val="E0B84B"/>
            </a:solidFill>
            <a:prstDash val="solid"/>
          </a:ln>
        </p:spPr>
      </p:sp>
      <p:sp>
        <p:nvSpPr>
          <p:cNvPr id="14" name="Text 12"/>
          <p:cNvSpPr/>
          <p:nvPr/>
        </p:nvSpPr>
        <p:spPr>
          <a:xfrm>
            <a:off x="6426200" y="3195042"/>
            <a:ext cx="510159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0EA"/>
                </a:solidFill>
                <a:latin typeface="Space Grotesk" pitchFamily="34" charset="0"/>
                <a:ea typeface="Space Grotesk" pitchFamily="34" charset="-122"/>
                <a:cs typeface="Space Grotesk" pitchFamily="34" charset="-120"/>
              </a:rPr>
              <a:t>Refusals are evidence</a:t>
            </a:r>
            <a:endParaRPr lang="en-US" sz="1800" dirty="0"/>
          </a:p>
        </p:txBody>
      </p:sp>
      <p:sp>
        <p:nvSpPr>
          <p:cNvPr id="15" name="Text 13"/>
          <p:cNvSpPr/>
          <p:nvPr/>
        </p:nvSpPr>
        <p:spPr>
          <a:xfrm>
            <a:off x="6426200" y="3545483"/>
            <a:ext cx="510159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0BA"/>
                </a:solidFill>
                <a:latin typeface="IBM Plex Sans" pitchFamily="34" charset="0"/>
                <a:ea typeface="IBM Plex Sans" pitchFamily="34" charset="-122"/>
                <a:cs typeface="IBM Plex Sans" pitchFamily="34" charset="-120"/>
              </a:rPr>
              <a:t>Every blocked attempt is logged on-chain, with its reason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Trust">    </p:cNvPr>
          <p:cNvPicPr>
            <a:picLocks noChangeAspect="1"/>
          </p:cNvPicPr>
          <p:nvPr/>
        </p:nvPicPr>
        <p:blipFill>
          <a:blip r:embed="rId1"/>
          <a:srcRect l="0" r="0" t="0" b="0"/>
          <a:stretch/>
        </p:blipFill>
        <p:spPr>
          <a:xfrm>
            <a:off x="812800" y="830560"/>
            <a:ext cx="355600" cy="355600"/>
          </a:xfrm>
          <a:prstGeom prst="rect">
            <a:avLst/>
          </a:prstGeom>
        </p:spPr>
      </p:pic>
      <p:sp>
        <p:nvSpPr>
          <p:cNvPr id="3" name="Text 0"/>
          <p:cNvSpPr/>
          <p:nvPr/>
        </p:nvSpPr>
        <p:spPr>
          <a:xfrm>
            <a:off x="1295400" y="812800"/>
            <a:ext cx="119169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F0EA"/>
                </a:solidFill>
                <a:latin typeface="Space Grotesk" pitchFamily="34" charset="0"/>
                <a:ea typeface="Space Grotesk" pitchFamily="34" charset="-122"/>
                <a:cs typeface="Space Grotesk" pitchFamily="34" charset="-120"/>
              </a:rPr>
              <a:t>Praetor</a:t>
            </a:r>
            <a:endParaRPr lang="en-US" sz="2200" dirty="0"/>
          </a:p>
        </p:txBody>
      </p:sp>
      <p:sp>
        <p:nvSpPr>
          <p:cNvPr id="4" name="Text 1"/>
          <p:cNvSpPr/>
          <p:nvPr>
            <p:ph type="title"/>
          </p:nvPr>
        </p:nvSpPr>
        <p:spPr>
          <a:xfrm>
            <a:off x="812800" y="2048570"/>
            <a:ext cx="9810750" cy="24257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2F0EA"/>
                </a:solidFill>
                <a:latin typeface="Space Grotesk" pitchFamily="34" charset="0"/>
                <a:ea typeface="Space Grotesk" pitchFamily="34" charset="-122"/>
                <a:cs typeface="Space Grotesk" pitchFamily="34" charset="-120"/>
              </a:rPr>
              <a:t>Agents can hold money </a:t>
            </a:r>
            <a:r>
              <a:rPr lang="en-US" sz="6000" b="1" i="0" dirty="0">
                <a:solidFill>
                  <a:srgbClr val="E0B84B"/>
                </a:solidFill>
                <a:latin typeface="Space Grotesk" pitchFamily="34" charset="0"/>
                <a:ea typeface="Space Grotesk" pitchFamily="34" charset="-122"/>
                <a:cs typeface="Space Grotesk" pitchFamily="34" charset="-120"/>
              </a:rPr>
              <a:t>when someone can stop them.</a:t>
            </a:r>
            <a:endParaRPr lang="en-US" sz="6000" dirty="0"/>
          </a:p>
        </p:txBody>
      </p:sp>
      <p:sp>
        <p:nvSpPr>
          <p:cNvPr id="5" name="Text 2"/>
          <p:cNvSpPr/>
          <p:nvPr/>
        </p:nvSpPr>
        <p:spPr>
          <a:xfrm>
            <a:off x="812800" y="4702870"/>
            <a:ext cx="85026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B0BA"/>
                </a:solidFill>
                <a:latin typeface="IBM Plex Sans" pitchFamily="34" charset="0"/>
                <a:ea typeface="IBM Plex Sans" pitchFamily="34" charset="-122"/>
                <a:cs typeface="IBM Plex Sans" pitchFamily="34" charset="-120"/>
              </a:rPr>
              <a:t>Autonomous for the user. Bounded by the contract. Regulated by the consortium.</a:t>
            </a:r>
            <a:endParaRPr lang="en-US" sz="1600" dirty="0"/>
          </a:p>
        </p:txBody>
      </p:sp>
      <p:sp>
        <p:nvSpPr>
          <p:cNvPr id="6"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0BA"/>
                </a:solidFill>
                <a:latin typeface="IBM Plex Sans" pitchFamily="34" charset="0"/>
                <a:ea typeface="IBM Plex Sans" pitchFamily="34" charset="-122"/>
                <a:cs typeface="IBM Plex Sans" pitchFamily="34" charset="-120"/>
              </a:rPr>
              <a:t>github.com/hliosone/Praetor · [Demo video] · [Team contact]</a:t>
            </a:r>
            <a:endParaRPr lang="en-US" sz="1200" dirty="0"/>
          </a:p>
        </p:txBody>
      </p:sp>
    </p:spTree>
  </p:cSld>
  <p:clrMapOvr>
    <a:masterClrMapping/>
  </p:clrMapOvr>
</p:sld>
</file>

<file path=ppt/theme/theme1.xml><?xml version="1.0" encoding="utf-8"?>
<a:theme xmlns:a="http://schemas.openxmlformats.org/drawingml/2006/main" name="Praetor pitch deck">
  <a:themeElements>
    <a:clrScheme name="Praetor pitch deck">
      <a:dk1>
        <a:srgbClr val="0F1114"/>
      </a:dk1>
      <a:lt1>
        <a:srgbClr val="F2F0EA"/>
      </a:lt1>
      <a:dk2>
        <a:srgbClr val="262729"/>
      </a:dk2>
      <a:lt2>
        <a:srgbClr val="B9B8B5"/>
      </a:lt2>
      <a:accent1>
        <a:srgbClr val="E0B84B"/>
      </a:accent1>
      <a:accent2>
        <a:srgbClr val="8A6A14"/>
      </a:accent2>
      <a:accent3>
        <a:srgbClr val="2F5FA8"/>
      </a:accent3>
      <a:accent4>
        <a:srgbClr val="3D2F08"/>
      </a:accent4>
      <a:accent5>
        <a:srgbClr val="8AB4F8"/>
      </a:accent5>
      <a:accent6>
        <a:srgbClr val="A9B0BA"/>
      </a:accent6>
      <a:hlink>
        <a:srgbClr val="0563C1"/>
      </a:hlink>
      <a:folHlink>
        <a:srgbClr val="954F72"/>
      </a:folHlink>
    </a:clrScheme>
    <a:fontScheme name="Praetor pitch deck">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Praetor pitch deck</dc:title>
  <dc:subject/>
  <dc:creator/>
  <cp:lastModifiedBy/>
  <cp:revision>1</cp:revision>
  <dcterms:created xsi:type="dcterms:W3CDTF">2026-10-18T02:27:40Z</dcterms:created>
  <dcterms:modified xsi:type="dcterms:W3CDTF">2026-10-18T02:27:40Z</dcterms:modified>
</cp:coreProperties>
</file>